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341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20665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20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.png"/><Relationship Id="rId7" Type="http://schemas.openxmlformats.org/officeDocument/2006/relationships/image" Target="../media/image21.png"/><Relationship Id="rId12" Type="http://schemas.openxmlformats.org/officeDocument/2006/relationships/image" Target="../media/image2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11" Type="http://schemas.openxmlformats.org/officeDocument/2006/relationships/image" Target="../media/image27.png"/><Relationship Id="rId5" Type="http://schemas.openxmlformats.org/officeDocument/2006/relationships/image" Target="../media/image12.png"/><Relationship Id="rId10" Type="http://schemas.openxmlformats.org/officeDocument/2006/relationships/image" Target="../media/image26.png"/><Relationship Id="rId4" Type="http://schemas.openxmlformats.org/officeDocument/2006/relationships/image" Target="../media/image22.png"/><Relationship Id="rId9" Type="http://schemas.openxmlformats.org/officeDocument/2006/relationships/image" Target="../media/image2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1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2.png"/><Relationship Id="rId9" Type="http://schemas.openxmlformats.org/officeDocument/2006/relationships/image" Target="../media/image3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1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14.png"/><Relationship Id="rId10" Type="http://schemas.openxmlformats.org/officeDocument/2006/relationships/image" Target="../media/image38.png"/><Relationship Id="rId4" Type="http://schemas.openxmlformats.org/officeDocument/2006/relationships/image" Target="../media/image22.png"/><Relationship Id="rId9" Type="http://schemas.openxmlformats.org/officeDocument/2006/relationships/image" Target="../media/image3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44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1.png"/><Relationship Id="rId7" Type="http://schemas.openxmlformats.org/officeDocument/2006/relationships/image" Target="../media/image4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10" Type="http://schemas.openxmlformats.org/officeDocument/2006/relationships/image" Target="../media/image51.png"/><Relationship Id="rId4" Type="http://schemas.openxmlformats.org/officeDocument/2006/relationships/image" Target="../media/image45.png"/><Relationship Id="rId9" Type="http://schemas.openxmlformats.org/officeDocument/2006/relationships/image" Target="../media/image5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5.png"/><Relationship Id="rId4" Type="http://schemas.openxmlformats.org/officeDocument/2006/relationships/image" Target="../media/image42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image" Target="../media/image2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10" Type="http://schemas.openxmlformats.org/officeDocument/2006/relationships/image" Target="../media/image1.png"/><Relationship Id="rId4" Type="http://schemas.openxmlformats.org/officeDocument/2006/relationships/image" Target="../media/image45.png"/><Relationship Id="rId9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roup 32">
            <a:extLst>
              <a:ext uri="{FF2B5EF4-FFF2-40B4-BE49-F238E27FC236}">
                <a16:creationId xmlns:a16="http://schemas.microsoft.com/office/drawing/2014/main" id="{9CFD9FE3-1058-4175-9C2F-84AE33961F5B}"/>
              </a:ext>
            </a:extLst>
          </p:cNvPr>
          <p:cNvGrpSpPr/>
          <p:nvPr/>
        </p:nvGrpSpPr>
        <p:grpSpPr>
          <a:xfrm>
            <a:off x="6980155" y="1332591"/>
            <a:ext cx="4647895" cy="4245249"/>
            <a:chOff x="6903720" y="502920"/>
            <a:chExt cx="5760720" cy="5760720"/>
          </a:xfrm>
        </p:grpSpPr>
        <p:sp>
          <p:nvSpPr>
            <p:cNvPr id="2" name="Shape 0"/>
            <p:cNvSpPr/>
            <p:nvPr/>
          </p:nvSpPr>
          <p:spPr>
            <a:xfrm>
              <a:off x="6903720" y="502920"/>
              <a:ext cx="5760720" cy="5760720"/>
            </a:xfrm>
            <a:prstGeom prst="ellipse">
              <a:avLst/>
            </a:prstGeom>
            <a:solidFill>
              <a:srgbClr val="EFF6FF"/>
            </a:solidFill>
            <a:ln/>
          </p:spPr>
        </p: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B1CE04ED-4840-4A88-93FD-BE37C6BBC4FE}"/>
                </a:ext>
              </a:extLst>
            </p:cNvPr>
            <p:cNvGrpSpPr/>
            <p:nvPr/>
          </p:nvGrpSpPr>
          <p:grpSpPr>
            <a:xfrm>
              <a:off x="7635240" y="1234440"/>
              <a:ext cx="4297680" cy="4297680"/>
              <a:chOff x="7635240" y="1234440"/>
              <a:chExt cx="4297680" cy="4297680"/>
            </a:xfrm>
          </p:grpSpPr>
          <p:sp>
            <p:nvSpPr>
              <p:cNvPr id="3" name="Shape 1"/>
              <p:cNvSpPr/>
              <p:nvPr/>
            </p:nvSpPr>
            <p:spPr>
              <a:xfrm>
                <a:off x="7635240" y="1234440"/>
                <a:ext cx="4297680" cy="4297680"/>
              </a:xfrm>
              <a:prstGeom prst="ellipse">
                <a:avLst/>
              </a:prstGeom>
              <a:solidFill>
                <a:srgbClr val="FFFFFF"/>
              </a:solidFill>
              <a:ln w="12700">
                <a:solidFill>
                  <a:srgbClr val="DBEAFE"/>
                </a:solidFill>
                <a:prstDash val="solid"/>
              </a:ln>
            </p:spPr>
          </p:sp>
          <p:pic>
            <p:nvPicPr>
              <p:cNvPr id="4" name="Image 0" descr="D:/Projects/Sudarshan BOI/frontend/logo/SUDARSHAN_LOGO_COLOUR.png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863840" y="1463040"/>
                <a:ext cx="3840480" cy="3840480"/>
              </a:xfrm>
              <a:prstGeom prst="rect">
                <a:avLst/>
              </a:prstGeom>
            </p:spPr>
          </p:pic>
        </p:grpSp>
      </p:grpSp>
      <p:sp>
        <p:nvSpPr>
          <p:cNvPr id="5" name="Text 2"/>
          <p:cNvSpPr txBox="1"/>
          <p:nvPr/>
        </p:nvSpPr>
        <p:spPr>
          <a:xfrm>
            <a:off x="640080" y="86868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280160"/>
            <a:ext cx="6766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600" b="1" kern="0" spc="4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SUDARSHAN</a:t>
            </a:r>
            <a:endParaRPr lang="en-US" sz="66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423160"/>
            <a:ext cx="658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APKs to fraud intelligence.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310896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Android banking malware analysis that turns a suspicious app into evidence-backed, deterministically scored fraud intelligence.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731520" y="4434840"/>
            <a:ext cx="822960" cy="822960"/>
          </a:xfrm>
          <a:prstGeom prst="ellipse">
            <a:avLst/>
          </a:prstGeom>
          <a:solidFill>
            <a:srgbClr val="EFF6FF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260" y="464058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28600" y="53766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kern="0" spc="1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APK</a:t>
            </a:r>
            <a:endParaRPr lang="en-US" sz="1100" dirty="0"/>
          </a:p>
        </p:txBody>
      </p:sp>
      <p:sp>
        <p:nvSpPr>
          <p:cNvPr id="12" name="Text 8"/>
          <p:cNvSpPr txBox="1"/>
          <p:nvPr/>
        </p:nvSpPr>
        <p:spPr>
          <a:xfrm>
            <a:off x="228600" y="563270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suspicious app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1673352" y="4846320"/>
            <a:ext cx="1115568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4" name="Shape 10"/>
          <p:cNvSpPr/>
          <p:nvPr/>
        </p:nvSpPr>
        <p:spPr>
          <a:xfrm>
            <a:off x="1920240" y="4814316"/>
            <a:ext cx="64008" cy="64008"/>
          </a:xfrm>
          <a:prstGeom prst="ellipse">
            <a:avLst/>
          </a:prstGeom>
          <a:solidFill>
            <a:srgbClr val="93C5FD"/>
          </a:solidFill>
          <a:ln/>
        </p:spPr>
      </p:sp>
      <p:sp>
        <p:nvSpPr>
          <p:cNvPr id="15" name="Shape 11"/>
          <p:cNvSpPr/>
          <p:nvPr/>
        </p:nvSpPr>
        <p:spPr>
          <a:xfrm>
            <a:off x="2143354" y="4814316"/>
            <a:ext cx="64008" cy="64008"/>
          </a:xfrm>
          <a:prstGeom prst="ellipse">
            <a:avLst/>
          </a:prstGeom>
          <a:solidFill>
            <a:srgbClr val="93C5FD"/>
          </a:solidFill>
          <a:ln/>
        </p:spPr>
      </p:sp>
      <p:sp>
        <p:nvSpPr>
          <p:cNvPr id="16" name="Shape 12"/>
          <p:cNvSpPr/>
          <p:nvPr/>
        </p:nvSpPr>
        <p:spPr>
          <a:xfrm>
            <a:off x="2366467" y="4814316"/>
            <a:ext cx="64008" cy="64008"/>
          </a:xfrm>
          <a:prstGeom prst="ellipse">
            <a:avLst/>
          </a:prstGeom>
          <a:solidFill>
            <a:srgbClr val="93C5FD"/>
          </a:solidFill>
          <a:ln/>
        </p:spPr>
      </p:sp>
      <p:sp>
        <p:nvSpPr>
          <p:cNvPr id="17" name="Shape 13"/>
          <p:cNvSpPr/>
          <p:nvPr/>
        </p:nvSpPr>
        <p:spPr>
          <a:xfrm>
            <a:off x="2926080" y="4434840"/>
            <a:ext cx="822960" cy="822960"/>
          </a:xfrm>
          <a:prstGeom prst="ellipse">
            <a:avLst/>
          </a:prstGeom>
          <a:solidFill>
            <a:srgbClr val="EFF6FF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31820" y="4640580"/>
            <a:ext cx="411480" cy="41148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2423160" y="53766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kern="0" spc="1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EVIDENCE</a:t>
            </a:r>
            <a:endParaRPr lang="en-US" sz="1100" dirty="0"/>
          </a:p>
        </p:txBody>
      </p:sp>
      <p:sp>
        <p:nvSpPr>
          <p:cNvPr id="20" name="Text 15"/>
          <p:cNvSpPr txBox="1"/>
          <p:nvPr/>
        </p:nvSpPr>
        <p:spPr>
          <a:xfrm>
            <a:off x="2423160" y="563270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static, runtime, network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3867912" y="4846320"/>
            <a:ext cx="1115568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22" name="Shape 17"/>
          <p:cNvSpPr/>
          <p:nvPr/>
        </p:nvSpPr>
        <p:spPr>
          <a:xfrm>
            <a:off x="4114800" y="4814316"/>
            <a:ext cx="64008" cy="64008"/>
          </a:xfrm>
          <a:prstGeom prst="ellipse">
            <a:avLst/>
          </a:prstGeom>
          <a:solidFill>
            <a:srgbClr val="93C5FD"/>
          </a:solidFill>
          <a:ln/>
        </p:spPr>
      </p:sp>
      <p:sp>
        <p:nvSpPr>
          <p:cNvPr id="23" name="Shape 18"/>
          <p:cNvSpPr/>
          <p:nvPr/>
        </p:nvSpPr>
        <p:spPr>
          <a:xfrm>
            <a:off x="4337914" y="4814316"/>
            <a:ext cx="64008" cy="64008"/>
          </a:xfrm>
          <a:prstGeom prst="ellipse">
            <a:avLst/>
          </a:prstGeom>
          <a:solidFill>
            <a:srgbClr val="93C5FD"/>
          </a:solidFill>
          <a:ln/>
        </p:spPr>
      </p:sp>
      <p:sp>
        <p:nvSpPr>
          <p:cNvPr id="24" name="Shape 19"/>
          <p:cNvSpPr/>
          <p:nvPr/>
        </p:nvSpPr>
        <p:spPr>
          <a:xfrm>
            <a:off x="4561027" y="4814316"/>
            <a:ext cx="64008" cy="64008"/>
          </a:xfrm>
          <a:prstGeom prst="ellipse">
            <a:avLst/>
          </a:prstGeom>
          <a:solidFill>
            <a:srgbClr val="93C5FD"/>
          </a:solidFill>
          <a:ln/>
        </p:spPr>
      </p:sp>
      <p:sp>
        <p:nvSpPr>
          <p:cNvPr id="25" name="Shape 20"/>
          <p:cNvSpPr/>
          <p:nvPr/>
        </p:nvSpPr>
        <p:spPr>
          <a:xfrm>
            <a:off x="5120640" y="4434840"/>
            <a:ext cx="822960" cy="82296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26380" y="4640580"/>
            <a:ext cx="411480" cy="41148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4617720" y="53766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kern="0" spc="1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INTELLIGENCE</a:t>
            </a:r>
            <a:endParaRPr lang="en-US" sz="1100" dirty="0"/>
          </a:p>
        </p:txBody>
      </p:sp>
      <p:sp>
        <p:nvSpPr>
          <p:cNvPr id="28" name="Text 22"/>
          <p:cNvSpPr txBox="1"/>
          <p:nvPr/>
        </p:nvSpPr>
        <p:spPr>
          <a:xfrm>
            <a:off x="4617720" y="563270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scored and explained</a:t>
            </a:r>
            <a:endParaRPr lang="en-US" sz="1000" dirty="0"/>
          </a:p>
        </p:txBody>
      </p:sp>
      <p:pic>
        <p:nvPicPr>
          <p:cNvPr id="29" name="Image 4" descr="D:/Projects/Sudarshan BOI/frontend/logo/SUDARSHAN_LOGO_COLOU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6455664"/>
            <a:ext cx="182880" cy="182880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896112" y="64465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kern="0" spc="1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SUDARSHAN</a:t>
            </a:r>
            <a:endParaRPr lang="en-US" sz="900" dirty="0"/>
          </a:p>
        </p:txBody>
      </p:sp>
      <p:sp>
        <p:nvSpPr>
          <p:cNvPr id="31" name="Text 24"/>
          <p:cNvSpPr txBox="1"/>
          <p:nvPr/>
        </p:nvSpPr>
        <p:spPr>
          <a:xfrm>
            <a:off x="10424160" y="6446520"/>
            <a:ext cx="11274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/  15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kern="0" spc="200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31520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Raw signals are not intelligence.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98448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banking trojan shows up as scattered events that each look harmless. An analyst still has to connect them.</a:t>
            </a:r>
            <a:endParaRPr lang="en-US" sz="1400" dirty="0"/>
          </a:p>
        </p:txBody>
      </p:sp>
      <p:pic>
        <p:nvPicPr>
          <p:cNvPr id="5" name="Image 0" descr="D:/Projects/Sudarshan BOI/frontend/logo/SUDARSHAN_LOGO_COLOU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6455664"/>
            <a:ext cx="182880" cy="1828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96112" y="64465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kern="0" spc="1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SUDARSHAN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0424160" y="6446520"/>
            <a:ext cx="11274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/  15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187452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b="1" kern="0" spc="1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A SANDBOX HANDS YOU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40080" y="2286000"/>
            <a:ext cx="274320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0080" y="228600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BIND_ACCESSIBILITY_SERVICE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697480" y="2788920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697480" y="278892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RECEIVE_SMS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68680" y="3246120"/>
            <a:ext cx="256032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68680" y="324612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TYPE_APPLICATION_OVERLAY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2103120" y="3749040"/>
            <a:ext cx="173736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2103120" y="374904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DexClassLoader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40080" y="4251960"/>
            <a:ext cx="160020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40080" y="425196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Socket.connect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2514600" y="4709160"/>
            <a:ext cx="201168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2514600" y="47091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SYSTEM_ALERT_WINDOW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822960" y="5212080"/>
            <a:ext cx="201168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22960" y="521208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QUERY_ALL_PACKAGES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4617720" y="32461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800" b="1" i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Now what?</a:t>
            </a:r>
            <a:endParaRPr lang="en-US" sz="2800" dirty="0"/>
          </a:p>
        </p:txBody>
      </p:sp>
      <p:sp>
        <p:nvSpPr>
          <p:cNvPr id="24" name="Text 21"/>
          <p:cNvSpPr txBox="1"/>
          <p:nvPr/>
        </p:nvSpPr>
        <p:spPr>
          <a:xfrm>
            <a:off x="4617720" y="38404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event alone could be benign.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800600" y="4526280"/>
            <a:ext cx="201168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  <a:tailEnd type="triangle"/>
          </a:ln>
        </p:spPr>
      </p:sp>
      <p:sp>
        <p:nvSpPr>
          <p:cNvPr id="26" name="Text 23"/>
          <p:cNvSpPr txBox="1"/>
          <p:nvPr/>
        </p:nvSpPr>
        <p:spPr>
          <a:xfrm>
            <a:off x="7360920" y="1874520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b="1" kern="0" spc="150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AN ANALYST NEEDS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7360920" y="2286000"/>
            <a:ext cx="4160520" cy="530352"/>
          </a:xfrm>
          <a:prstGeom prst="roundRect">
            <a:avLst>
              <a:gd name="adj" fmla="val 13793"/>
            </a:avLst>
          </a:prstGeom>
          <a:solidFill>
            <a:srgbClr val="EFF6FF"/>
          </a:solidFill>
          <a:ln w="9525">
            <a:solidFill>
              <a:srgbClr val="BFDBFE"/>
            </a:solidFill>
            <a:prstDash val="solid"/>
          </a:ln>
        </p:spPr>
      </p:sp>
      <p:pic>
        <p:nvPicPr>
          <p:cNvPr id="2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6368" y="2414016"/>
            <a:ext cx="274320" cy="274320"/>
          </a:xfrm>
          <a:prstGeom prst="rect">
            <a:avLst/>
          </a:prstGeom>
        </p:spPr>
      </p:pic>
      <p:sp>
        <p:nvSpPr>
          <p:cNvPr id="29" name="Text 25"/>
          <p:cNvSpPr txBox="1"/>
          <p:nvPr/>
        </p:nvSpPr>
        <p:spPr>
          <a:xfrm>
            <a:off x="7909560" y="2286000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Accessibility service activated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7653528" y="2816352"/>
            <a:ext cx="0" cy="219456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31" name="Shape 27"/>
          <p:cNvSpPr/>
          <p:nvPr/>
        </p:nvSpPr>
        <p:spPr>
          <a:xfrm>
            <a:off x="7360920" y="3035808"/>
            <a:ext cx="4160520" cy="530352"/>
          </a:xfrm>
          <a:prstGeom prst="roundRect">
            <a:avLst>
              <a:gd name="adj" fmla="val 13793"/>
            </a:avLst>
          </a:prstGeom>
          <a:solidFill>
            <a:srgbClr val="EFF6FF"/>
          </a:solidFill>
          <a:ln w="9525">
            <a:solidFill>
              <a:srgbClr val="BFDBFE"/>
            </a:solidFill>
            <a:prstDash val="solid"/>
          </a:ln>
        </p:spPr>
      </p:sp>
      <p:pic>
        <p:nvPicPr>
          <p:cNvPr id="3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16368" y="3163824"/>
            <a:ext cx="274320" cy="274320"/>
          </a:xfrm>
          <a:prstGeom prst="rect">
            <a:avLst/>
          </a:prstGeom>
        </p:spPr>
      </p:pic>
      <p:sp>
        <p:nvSpPr>
          <p:cNvPr id="33" name="Text 28"/>
          <p:cNvSpPr txBox="1"/>
          <p:nvPr/>
        </p:nvSpPr>
        <p:spPr>
          <a:xfrm>
            <a:off x="7909560" y="3035808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Overlay drawn over the bank app</a:t>
            </a:r>
            <a:endParaRPr lang="en-US" sz="1300" dirty="0"/>
          </a:p>
        </p:txBody>
      </p:sp>
      <p:sp>
        <p:nvSpPr>
          <p:cNvPr id="34" name="Shape 29"/>
          <p:cNvSpPr/>
          <p:nvPr/>
        </p:nvSpPr>
        <p:spPr>
          <a:xfrm>
            <a:off x="7653528" y="3566160"/>
            <a:ext cx="0" cy="219456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35" name="Shape 30"/>
          <p:cNvSpPr/>
          <p:nvPr/>
        </p:nvSpPr>
        <p:spPr>
          <a:xfrm>
            <a:off x="7360920" y="3785616"/>
            <a:ext cx="4160520" cy="530352"/>
          </a:xfrm>
          <a:prstGeom prst="roundRect">
            <a:avLst>
              <a:gd name="adj" fmla="val 13793"/>
            </a:avLst>
          </a:prstGeom>
          <a:solidFill>
            <a:srgbClr val="EFF6FF"/>
          </a:solidFill>
          <a:ln w="9525">
            <a:solidFill>
              <a:srgbClr val="BFDBFE"/>
            </a:solidFill>
            <a:prstDash val="solid"/>
          </a:ln>
        </p:spPr>
      </p:sp>
      <p:pic>
        <p:nvPicPr>
          <p:cNvPr id="3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16368" y="3913632"/>
            <a:ext cx="274320" cy="274320"/>
          </a:xfrm>
          <a:prstGeom prst="rect">
            <a:avLst/>
          </a:prstGeom>
        </p:spPr>
      </p:pic>
      <p:sp>
        <p:nvSpPr>
          <p:cNvPr id="37" name="Text 31"/>
          <p:cNvSpPr txBox="1"/>
          <p:nvPr/>
        </p:nvSpPr>
        <p:spPr>
          <a:xfrm>
            <a:off x="7909560" y="3785616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SMS OTP intercepted</a:t>
            </a:r>
            <a:endParaRPr lang="en-US" sz="1300" dirty="0"/>
          </a:p>
        </p:txBody>
      </p:sp>
      <p:sp>
        <p:nvSpPr>
          <p:cNvPr id="38" name="Shape 32"/>
          <p:cNvSpPr/>
          <p:nvPr/>
        </p:nvSpPr>
        <p:spPr>
          <a:xfrm>
            <a:off x="7653528" y="4315968"/>
            <a:ext cx="0" cy="219456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39" name="Shape 33"/>
          <p:cNvSpPr/>
          <p:nvPr/>
        </p:nvSpPr>
        <p:spPr>
          <a:xfrm>
            <a:off x="7360920" y="4535424"/>
            <a:ext cx="4160520" cy="530352"/>
          </a:xfrm>
          <a:prstGeom prst="roundRect">
            <a:avLst>
              <a:gd name="adj" fmla="val 13793"/>
            </a:avLst>
          </a:prstGeom>
          <a:solidFill>
            <a:srgbClr val="2563EB"/>
          </a:solidFill>
          <a:ln/>
        </p:spPr>
      </p:sp>
      <p:pic>
        <p:nvPicPr>
          <p:cNvPr id="4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16368" y="4663440"/>
            <a:ext cx="274320" cy="274320"/>
          </a:xfrm>
          <a:prstGeom prst="rect">
            <a:avLst/>
          </a:prstGeom>
        </p:spPr>
      </p:pic>
      <p:sp>
        <p:nvSpPr>
          <p:cNvPr id="41" name="Text 34"/>
          <p:cNvSpPr txBox="1"/>
          <p:nvPr/>
        </p:nvSpPr>
        <p:spPr>
          <a:xfrm>
            <a:off x="7909560" y="4535424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sent to a remote server</a:t>
            </a:r>
            <a:endParaRPr lang="en-US" sz="1300" dirty="0"/>
          </a:p>
        </p:txBody>
      </p:sp>
      <p:sp>
        <p:nvSpPr>
          <p:cNvPr id="42" name="Shape 35"/>
          <p:cNvSpPr/>
          <p:nvPr/>
        </p:nvSpPr>
        <p:spPr>
          <a:xfrm>
            <a:off x="7360920" y="5349240"/>
            <a:ext cx="4160520" cy="384048"/>
          </a:xfrm>
          <a:prstGeom prst="roundRect">
            <a:avLst>
              <a:gd name="adj" fmla="val 14286"/>
            </a:avLst>
          </a:prstGeom>
          <a:solidFill>
            <a:srgbClr val="0F172A"/>
          </a:solidFill>
          <a:ln/>
        </p:spPr>
      </p:sp>
      <p:sp>
        <p:nvSpPr>
          <p:cNvPr id="43" name="Text 36"/>
          <p:cNvSpPr txBox="1"/>
          <p:nvPr/>
        </p:nvSpPr>
        <p:spPr>
          <a:xfrm>
            <a:off x="7360920" y="5349240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FULL_ACCOUNT_TAKEOVER</a:t>
            </a:r>
            <a:endParaRPr lang="en-US" sz="1200" dirty="0"/>
          </a:p>
        </p:txBody>
      </p:sp>
      <p:sp>
        <p:nvSpPr>
          <p:cNvPr id="44" name="Shape 37"/>
          <p:cNvSpPr/>
          <p:nvPr/>
        </p:nvSpPr>
        <p:spPr>
          <a:xfrm>
            <a:off x="640080" y="5760720"/>
            <a:ext cx="1091153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pic>
        <p:nvPicPr>
          <p:cNvPr id="4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" y="5916168"/>
            <a:ext cx="256032" cy="256032"/>
          </a:xfrm>
          <a:prstGeom prst="rect">
            <a:avLst/>
          </a:prstGeom>
        </p:spPr>
      </p:pic>
      <p:sp>
        <p:nvSpPr>
          <p:cNvPr id="46" name="Text 38"/>
          <p:cNvSpPr txBox="1"/>
          <p:nvPr/>
        </p:nvSpPr>
        <p:spPr>
          <a:xfrm>
            <a:off x="1005840" y="5870448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Evasion  </a:t>
            </a: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packing hides the real logic</a:t>
            </a:r>
            <a:endParaRPr lang="en-US" sz="1050" dirty="0"/>
          </a:p>
        </p:txBody>
      </p:sp>
      <p:pic>
        <p:nvPicPr>
          <p:cNvPr id="47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51960" y="5916168"/>
            <a:ext cx="256032" cy="256032"/>
          </a:xfrm>
          <a:prstGeom prst="rect">
            <a:avLst/>
          </a:prstGeom>
        </p:spPr>
      </p:pic>
      <p:sp>
        <p:nvSpPr>
          <p:cNvPr id="48" name="Text 39"/>
          <p:cNvSpPr txBox="1"/>
          <p:nvPr/>
        </p:nvSpPr>
        <p:spPr>
          <a:xfrm>
            <a:off x="4617720" y="5870448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Volume  </a:t>
            </a: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thousands of events with no causal link</a:t>
            </a:r>
            <a:endParaRPr lang="en-US" sz="1050" dirty="0"/>
          </a:p>
        </p:txBody>
      </p:sp>
      <p:pic>
        <p:nvPicPr>
          <p:cNvPr id="4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63840" y="5916168"/>
            <a:ext cx="256032" cy="256032"/>
          </a:xfrm>
          <a:prstGeom prst="rect">
            <a:avLst/>
          </a:prstGeom>
        </p:spPr>
      </p:pic>
      <p:sp>
        <p:nvSpPr>
          <p:cNvPr id="50" name="Text 40"/>
          <p:cNvSpPr txBox="1"/>
          <p:nvPr/>
        </p:nvSpPr>
        <p:spPr>
          <a:xfrm>
            <a:off x="8229600" y="5870448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Trust  </a:t>
            </a: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model-generated score cannot be audited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kern="0" spc="200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31520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SUDARSHAN connects the evidence.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98448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Four independent lenses feed one evidence model. Fixed formulas, not a model, decide the risk.</a:t>
            </a:r>
            <a:endParaRPr lang="en-US" sz="1400" dirty="0"/>
          </a:p>
        </p:txBody>
      </p:sp>
      <p:pic>
        <p:nvPicPr>
          <p:cNvPr id="5" name="Image 0" descr="D:/Projects/Sudarshan BOI/frontend/logo/SUDARSHAN_LOGO_COLOU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6455664"/>
            <a:ext cx="182880" cy="1828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96112" y="64465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kern="0" spc="1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SUDARSHAN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0424160" y="6446520"/>
            <a:ext cx="11274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/  15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640080" y="1965960"/>
            <a:ext cx="22402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F172A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86384" y="2084832"/>
            <a:ext cx="475488" cy="475488"/>
          </a:xfrm>
          <a:prstGeom prst="ellipse">
            <a:avLst/>
          </a:prstGeom>
          <a:solidFill>
            <a:srgbClr val="EFF6FF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256" y="2203704"/>
            <a:ext cx="237744" cy="23774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371600" y="207568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kern="0" spc="1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STATIC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1371600" y="233172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code, manifest, VIDE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2880360" y="2322576"/>
            <a:ext cx="822960" cy="1014984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4" name="Shape 10"/>
          <p:cNvSpPr/>
          <p:nvPr/>
        </p:nvSpPr>
        <p:spPr>
          <a:xfrm>
            <a:off x="640080" y="2953512"/>
            <a:ext cx="22402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F172A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86384" y="3072384"/>
            <a:ext cx="475488" cy="475488"/>
          </a:xfrm>
          <a:prstGeom prst="ellipse">
            <a:avLst/>
          </a:prstGeom>
          <a:solidFill>
            <a:srgbClr val="EFF6FF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5256" y="3191256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371600" y="30632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kern="0" spc="1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DYNAMIC</a:t>
            </a:r>
            <a:endParaRPr lang="en-US" sz="1200" dirty="0"/>
          </a:p>
        </p:txBody>
      </p:sp>
      <p:sp>
        <p:nvSpPr>
          <p:cNvPr id="18" name="Text 13"/>
          <p:cNvSpPr txBox="1"/>
          <p:nvPr/>
        </p:nvSpPr>
        <p:spPr>
          <a:xfrm>
            <a:off x="1371600" y="331927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instrumented run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2880360" y="3310128"/>
            <a:ext cx="822960" cy="329184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20" name="Shape 15"/>
          <p:cNvSpPr/>
          <p:nvPr/>
        </p:nvSpPr>
        <p:spPr>
          <a:xfrm>
            <a:off x="640080" y="3941064"/>
            <a:ext cx="22402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F172A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786384" y="4059936"/>
            <a:ext cx="475488" cy="475488"/>
          </a:xfrm>
          <a:prstGeom prst="ellipse">
            <a:avLst/>
          </a:prstGeom>
          <a:solidFill>
            <a:srgbClr val="EFF6FF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5256" y="4178808"/>
            <a:ext cx="237744" cy="237744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371600" y="40507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kern="0" spc="1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NETWORK</a:t>
            </a:r>
            <a:endParaRPr lang="en-US" sz="1200" dirty="0"/>
          </a:p>
        </p:txBody>
      </p:sp>
      <p:sp>
        <p:nvSpPr>
          <p:cNvPr id="24" name="Text 18"/>
          <p:cNvSpPr txBox="1"/>
          <p:nvPr/>
        </p:nvSpPr>
        <p:spPr>
          <a:xfrm>
            <a:off x="1371600" y="4306824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proxied traffic</a:t>
            </a:r>
            <a:endParaRPr lang="en-US" sz="950" dirty="0"/>
          </a:p>
        </p:txBody>
      </p:sp>
      <p:sp>
        <p:nvSpPr>
          <p:cNvPr id="25" name="Shape 19"/>
          <p:cNvSpPr/>
          <p:nvPr/>
        </p:nvSpPr>
        <p:spPr>
          <a:xfrm flipV="1">
            <a:off x="2880360" y="3941064"/>
            <a:ext cx="822960" cy="356616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26" name="Shape 20"/>
          <p:cNvSpPr/>
          <p:nvPr/>
        </p:nvSpPr>
        <p:spPr>
          <a:xfrm>
            <a:off x="640080" y="4928616"/>
            <a:ext cx="22402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F172A">
                <a:alpha val="10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786384" y="5047488"/>
            <a:ext cx="475488" cy="475488"/>
          </a:xfrm>
          <a:prstGeom prst="ellipse">
            <a:avLst/>
          </a:prstGeom>
          <a:solidFill>
            <a:srgbClr val="EFF6FF"/>
          </a:solidFill>
          <a:ln/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5256" y="5166360"/>
            <a:ext cx="237744" cy="237744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1371600" y="503834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kern="0" spc="1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VISUAL</a:t>
            </a:r>
            <a:endParaRPr lang="en-US" sz="1200" dirty="0"/>
          </a:p>
        </p:txBody>
      </p:sp>
      <p:sp>
        <p:nvSpPr>
          <p:cNvPr id="30" name="Text 23"/>
          <p:cNvSpPr txBox="1"/>
          <p:nvPr/>
        </p:nvSpPr>
        <p:spPr>
          <a:xfrm>
            <a:off x="1371600" y="529437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screens, lookalikes</a:t>
            </a:r>
            <a:endParaRPr lang="en-US" sz="950" dirty="0"/>
          </a:p>
        </p:txBody>
      </p:sp>
      <p:sp>
        <p:nvSpPr>
          <p:cNvPr id="31" name="Shape 24"/>
          <p:cNvSpPr/>
          <p:nvPr/>
        </p:nvSpPr>
        <p:spPr>
          <a:xfrm flipV="1">
            <a:off x="2880360" y="4242816"/>
            <a:ext cx="822960" cy="1042416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32" name="Shape 25"/>
          <p:cNvSpPr/>
          <p:nvPr/>
        </p:nvSpPr>
        <p:spPr>
          <a:xfrm>
            <a:off x="3703320" y="2926080"/>
            <a:ext cx="1783080" cy="1737360"/>
          </a:xfrm>
          <a:prstGeom prst="roundRect">
            <a:avLst>
              <a:gd name="adj" fmla="val 6316"/>
            </a:avLst>
          </a:prstGeom>
          <a:solidFill>
            <a:srgbClr val="2563EB"/>
          </a:solidFill>
          <a:ln/>
        </p:spPr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11980" y="3154680"/>
            <a:ext cx="365760" cy="365760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3703320" y="361188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b="1" kern="0" spc="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EVIDENCE</a:t>
            </a:r>
            <a:endParaRPr lang="en-US" sz="12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250" b="1" kern="0" spc="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 CORRELATION</a:t>
            </a:r>
            <a:endParaRPr lang="en-US" sz="1250" dirty="0"/>
          </a:p>
        </p:txBody>
      </p:sp>
      <p:sp>
        <p:nvSpPr>
          <p:cNvPr id="35" name="Shape 27"/>
          <p:cNvSpPr/>
          <p:nvPr/>
        </p:nvSpPr>
        <p:spPr>
          <a:xfrm>
            <a:off x="5486400" y="3794760"/>
            <a:ext cx="411480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36" name="Shape 28"/>
          <p:cNvSpPr/>
          <p:nvPr/>
        </p:nvSpPr>
        <p:spPr>
          <a:xfrm>
            <a:off x="5897880" y="2926080"/>
            <a:ext cx="1691640" cy="1737360"/>
          </a:xfrm>
          <a:prstGeom prst="roundRect">
            <a:avLst>
              <a:gd name="adj" fmla="val 6486"/>
            </a:avLst>
          </a:prstGeom>
          <a:solidFill>
            <a:srgbClr val="0F172A"/>
          </a:solidFill>
          <a:ln/>
        </p:spPr>
      </p:sp>
      <p:pic>
        <p:nvPicPr>
          <p:cNvPr id="37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56248" y="3154680"/>
            <a:ext cx="365760" cy="365760"/>
          </a:xfrm>
          <a:prstGeom prst="rect">
            <a:avLst/>
          </a:prstGeom>
        </p:spPr>
      </p:pic>
      <p:sp>
        <p:nvSpPr>
          <p:cNvPr id="38" name="Text 29"/>
          <p:cNvSpPr txBox="1"/>
          <p:nvPr/>
        </p:nvSpPr>
        <p:spPr>
          <a:xfrm>
            <a:off x="5897880" y="361188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DETERMINISTIC</a:t>
            </a:r>
            <a:endParaRPr lang="en-US" sz="12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 ENGINE</a:t>
            </a:r>
            <a:endParaRPr lang="en-US" sz="1200" dirty="0"/>
          </a:p>
        </p:txBody>
      </p:sp>
      <p:sp>
        <p:nvSpPr>
          <p:cNvPr id="39" name="Shape 30"/>
          <p:cNvSpPr/>
          <p:nvPr/>
        </p:nvSpPr>
        <p:spPr>
          <a:xfrm>
            <a:off x="7589520" y="3794760"/>
            <a:ext cx="365760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40" name="Shape 31"/>
          <p:cNvSpPr/>
          <p:nvPr/>
        </p:nvSpPr>
        <p:spPr>
          <a:xfrm>
            <a:off x="7973568" y="3493008"/>
            <a:ext cx="603504" cy="603504"/>
          </a:xfrm>
          <a:prstGeom prst="ellipse">
            <a:avLst/>
          </a:prstGeom>
          <a:solidFill>
            <a:srgbClr val="EFF6FF"/>
          </a:solidFill>
          <a:ln/>
        </p:spPr>
      </p:sp>
      <p:pic>
        <p:nvPicPr>
          <p:cNvPr id="41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24444" y="3643884"/>
            <a:ext cx="301752" cy="301752"/>
          </a:xfrm>
          <a:prstGeom prst="rect">
            <a:avLst/>
          </a:prstGeom>
        </p:spPr>
      </p:pic>
      <p:sp>
        <p:nvSpPr>
          <p:cNvPr id="42" name="Text 32"/>
          <p:cNvSpPr txBox="1"/>
          <p:nvPr/>
        </p:nvSpPr>
        <p:spPr>
          <a:xfrm>
            <a:off x="7818120" y="416052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kern="0" spc="1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ANALYST</a:t>
            </a:r>
            <a:endParaRPr lang="en-US" sz="1000" dirty="0"/>
          </a:p>
        </p:txBody>
      </p:sp>
      <p:sp>
        <p:nvSpPr>
          <p:cNvPr id="43" name="Shape 33"/>
          <p:cNvSpPr/>
          <p:nvPr/>
        </p:nvSpPr>
        <p:spPr>
          <a:xfrm>
            <a:off x="4594860" y="4663440"/>
            <a:ext cx="0" cy="594360"/>
          </a:xfrm>
          <a:prstGeom prst="line">
            <a:avLst/>
          </a:prstGeom>
          <a:noFill/>
          <a:ln w="15875">
            <a:solidFill>
              <a:srgbClr val="94A3B8"/>
            </a:solidFill>
            <a:prstDash val="dash"/>
            <a:tailEnd type="triangle"/>
          </a:ln>
        </p:spPr>
      </p:sp>
      <p:sp>
        <p:nvSpPr>
          <p:cNvPr id="44" name="Shape 34"/>
          <p:cNvSpPr/>
          <p:nvPr/>
        </p:nvSpPr>
        <p:spPr>
          <a:xfrm>
            <a:off x="3474720" y="5257800"/>
            <a:ext cx="22402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94A3B8"/>
            </a:solidFill>
            <a:prstDash val="dash"/>
          </a:ln>
        </p:spPr>
      </p:sp>
      <p:pic>
        <p:nvPicPr>
          <p:cNvPr id="45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611880" y="5477256"/>
            <a:ext cx="274320" cy="274320"/>
          </a:xfrm>
          <a:prstGeom prst="rect">
            <a:avLst/>
          </a:prstGeom>
        </p:spPr>
      </p:pic>
      <p:sp>
        <p:nvSpPr>
          <p:cNvPr id="46" name="Text 35"/>
          <p:cNvSpPr txBox="1"/>
          <p:nvPr/>
        </p:nvSpPr>
        <p:spPr>
          <a:xfrm>
            <a:off x="3959352" y="530352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explains</a:t>
            </a:r>
            <a:endParaRPr lang="en-US" sz="11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reads evidence only</a:t>
            </a:r>
            <a:endParaRPr lang="en-US" sz="1100" dirty="0"/>
          </a:p>
        </p:txBody>
      </p:sp>
      <p:sp>
        <p:nvSpPr>
          <p:cNvPr id="47" name="Text 36"/>
          <p:cNvSpPr txBox="1"/>
          <p:nvPr/>
        </p:nvSpPr>
        <p:spPr>
          <a:xfrm>
            <a:off x="5897880" y="53492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path from AI</a:t>
            </a:r>
            <a:endParaRPr lang="en-US" sz="10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 the score</a:t>
            </a:r>
            <a:endParaRPr lang="en-US" sz="1000" dirty="0"/>
          </a:p>
        </p:txBody>
      </p:sp>
      <p:sp>
        <p:nvSpPr>
          <p:cNvPr id="48" name="Shape 37"/>
          <p:cNvSpPr/>
          <p:nvPr/>
        </p:nvSpPr>
        <p:spPr>
          <a:xfrm>
            <a:off x="9189720" y="1965960"/>
            <a:ext cx="0" cy="402336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49" name="Text 38"/>
          <p:cNvSpPr txBox="1"/>
          <p:nvPr/>
        </p:nvSpPr>
        <p:spPr>
          <a:xfrm>
            <a:off x="9509760" y="1920240"/>
            <a:ext cx="2011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4000" dirty="0"/>
          </a:p>
        </p:txBody>
      </p:sp>
      <p:sp>
        <p:nvSpPr>
          <p:cNvPr id="50" name="Text 39"/>
          <p:cNvSpPr txBox="1"/>
          <p:nvPr/>
        </p:nvSpPr>
        <p:spPr>
          <a:xfrm>
            <a:off x="9509760" y="252374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automated pipeline stages</a:t>
            </a:r>
            <a:endParaRPr lang="en-US" sz="1100" dirty="0"/>
          </a:p>
        </p:txBody>
      </p:sp>
      <p:sp>
        <p:nvSpPr>
          <p:cNvPr id="51" name="Text 40"/>
          <p:cNvSpPr txBox="1"/>
          <p:nvPr/>
        </p:nvSpPr>
        <p:spPr>
          <a:xfrm>
            <a:off x="9509760" y="2944368"/>
            <a:ext cx="2011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4000" dirty="0"/>
          </a:p>
        </p:txBody>
      </p:sp>
      <p:sp>
        <p:nvSpPr>
          <p:cNvPr id="52" name="Text 41"/>
          <p:cNvSpPr txBox="1"/>
          <p:nvPr/>
        </p:nvSpPr>
        <p:spPr>
          <a:xfrm>
            <a:off x="9509760" y="354787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weighted behavioural axes</a:t>
            </a:r>
            <a:endParaRPr lang="en-US" sz="1100" dirty="0"/>
          </a:p>
        </p:txBody>
      </p:sp>
      <p:sp>
        <p:nvSpPr>
          <p:cNvPr id="53" name="Text 42"/>
          <p:cNvSpPr txBox="1"/>
          <p:nvPr/>
        </p:nvSpPr>
        <p:spPr>
          <a:xfrm>
            <a:off x="9509760" y="3968496"/>
            <a:ext cx="2011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4000" dirty="0"/>
          </a:p>
        </p:txBody>
      </p:sp>
      <p:sp>
        <p:nvSpPr>
          <p:cNvPr id="54" name="Text 43"/>
          <p:cNvSpPr txBox="1"/>
          <p:nvPr/>
        </p:nvSpPr>
        <p:spPr>
          <a:xfrm>
            <a:off x="9509760" y="45720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Indian bank baselines</a:t>
            </a:r>
            <a:endParaRPr lang="en-US" sz="1100" dirty="0"/>
          </a:p>
        </p:txBody>
      </p:sp>
      <p:sp>
        <p:nvSpPr>
          <p:cNvPr id="55" name="Text 44"/>
          <p:cNvSpPr txBox="1"/>
          <p:nvPr/>
        </p:nvSpPr>
        <p:spPr>
          <a:xfrm>
            <a:off x="9509760" y="4992624"/>
            <a:ext cx="2011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4000" dirty="0"/>
          </a:p>
        </p:txBody>
      </p:sp>
      <p:sp>
        <p:nvSpPr>
          <p:cNvPr id="56" name="Text 45"/>
          <p:cNvSpPr txBox="1"/>
          <p:nvPr/>
        </p:nvSpPr>
        <p:spPr>
          <a:xfrm>
            <a:off x="9509760" y="559612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inputs to the risk score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kern="0" spc="200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ARCHITECTURE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31520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SUDARSHAN is built.</a:t>
            </a:r>
            <a:endParaRPr lang="en-US" sz="3000" dirty="0"/>
          </a:p>
        </p:txBody>
      </p:sp>
      <p:pic>
        <p:nvPicPr>
          <p:cNvPr id="4" name="Image 0" descr="D:/Projects/Sudarshan BOI/frontend/logo/SUDARSHAN_LOGO_COLOU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6455664"/>
            <a:ext cx="182880" cy="1828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96112" y="64465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kern="0" spc="1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SUDARSHAN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0424160" y="6446520"/>
            <a:ext cx="11274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/  15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640080" y="1481328"/>
            <a:ext cx="8458200" cy="420624"/>
          </a:xfrm>
          <a:prstGeom prst="roundRect">
            <a:avLst>
              <a:gd name="adj" fmla="val 15217"/>
            </a:avLst>
          </a:prstGeom>
          <a:solidFill>
            <a:srgbClr val="EFF6FF"/>
          </a:solidFill>
          <a:ln w="9525">
            <a:solidFill>
              <a:srgbClr val="BFDBF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22960" y="1481328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b="1" kern="0" spc="120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ANALYST CONSOLE</a:t>
            </a:r>
            <a:endParaRPr lang="en-US" sz="950" dirty="0"/>
          </a:p>
        </p:txBody>
      </p:sp>
      <p:sp>
        <p:nvSpPr>
          <p:cNvPr id="9" name="Text 6"/>
          <p:cNvSpPr txBox="1"/>
          <p:nvPr/>
        </p:nvSpPr>
        <p:spPr>
          <a:xfrm>
            <a:off x="2788920" y="1481328"/>
            <a:ext cx="5943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 18 + Vite</a:t>
            </a: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case, evidence, intel, Ask Sudarshan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40080" y="1975104"/>
            <a:ext cx="8458200" cy="420624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22960" y="1975104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b="1" kern="0" spc="120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 GATEWAY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2788920" y="1975104"/>
            <a:ext cx="5943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FastAPI :8000</a:t>
            </a: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JWT · 3-tier RBAC · rate limits · audit log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40080" y="2468880"/>
            <a:ext cx="8458200" cy="420624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22960" y="2468880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b="1" kern="0" spc="120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ORCHESTRATION</a:t>
            </a:r>
            <a:endParaRPr lang="en-US" sz="950" dirty="0"/>
          </a:p>
        </p:txBody>
      </p:sp>
      <p:sp>
        <p:nvSpPr>
          <p:cNvPr id="15" name="Text 12"/>
          <p:cNvSpPr txBox="1"/>
          <p:nvPr/>
        </p:nvSpPr>
        <p:spPr>
          <a:xfrm>
            <a:off x="2788920" y="2468880"/>
            <a:ext cx="5943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Job queue · batch worker</a:t>
            </a: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case store on SQLite or PostgreSQL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40080" y="2962656"/>
            <a:ext cx="8458200" cy="1572768"/>
          </a:xfrm>
          <a:prstGeom prst="roundRect">
            <a:avLst>
              <a:gd name="adj" fmla="val 4070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2960" y="303580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b="1" kern="0" spc="120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ANALYSIS ENGINE  </a:t>
            </a: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:8001 · internal token · not exposed to host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822960" y="3364992"/>
            <a:ext cx="1920240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976" y="3493008"/>
            <a:ext cx="237744" cy="237744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1261872" y="34747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kern="0" spc="1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STATIC</a:t>
            </a:r>
            <a:endParaRPr lang="en-US" sz="1050" dirty="0"/>
          </a:p>
        </p:txBody>
      </p:sp>
      <p:sp>
        <p:nvSpPr>
          <p:cNvPr id="21" name="Text 17"/>
          <p:cNvSpPr txBox="1"/>
          <p:nvPr/>
        </p:nvSpPr>
        <p:spPr>
          <a:xfrm>
            <a:off x="950976" y="3822192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Androguard · APKTool</a:t>
            </a:r>
            <a:endParaRPr lang="en-US" sz="9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JADX · VIDE · YARA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2880360" y="3364992"/>
            <a:ext cx="1920240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5875">
            <a:solidFill>
              <a:srgbClr val="DC2626"/>
            </a:solidFill>
            <a:prstDash val="dash"/>
          </a:ln>
        </p:spPr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08376" y="3493008"/>
            <a:ext cx="237744" cy="237744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3319272" y="34747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kern="0" spc="1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DYNAMIC</a:t>
            </a:r>
            <a:endParaRPr lang="en-US" sz="1050" dirty="0"/>
          </a:p>
        </p:txBody>
      </p:sp>
      <p:sp>
        <p:nvSpPr>
          <p:cNvPr id="25" name="Text 20"/>
          <p:cNvSpPr txBox="1"/>
          <p:nvPr/>
        </p:nvSpPr>
        <p:spPr>
          <a:xfrm>
            <a:off x="3008376" y="3822192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Android guest · Frida 17</a:t>
            </a:r>
            <a:endParaRPr lang="en-US" sz="9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explorer · ADB gateway</a:t>
            </a:r>
            <a:endParaRPr lang="en-US" sz="950" dirty="0"/>
          </a:p>
        </p:txBody>
      </p:sp>
      <p:sp>
        <p:nvSpPr>
          <p:cNvPr id="26" name="Text 21"/>
          <p:cNvSpPr txBox="1"/>
          <p:nvPr/>
        </p:nvSpPr>
        <p:spPr>
          <a:xfrm>
            <a:off x="2880360" y="4398264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00" b="1" kern="0" spc="150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SANDBOX BOUNDARY</a:t>
            </a:r>
            <a:endParaRPr lang="en-US" sz="700" dirty="0"/>
          </a:p>
        </p:txBody>
      </p:sp>
      <p:sp>
        <p:nvSpPr>
          <p:cNvPr id="27" name="Shape 22"/>
          <p:cNvSpPr/>
          <p:nvPr/>
        </p:nvSpPr>
        <p:spPr>
          <a:xfrm>
            <a:off x="4937760" y="3364992"/>
            <a:ext cx="1920240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65776" y="3493008"/>
            <a:ext cx="237744" cy="237744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5376672" y="34747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kern="0" spc="1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NETWORK</a:t>
            </a:r>
            <a:endParaRPr lang="en-US" sz="1050" dirty="0"/>
          </a:p>
        </p:txBody>
      </p:sp>
      <p:sp>
        <p:nvSpPr>
          <p:cNvPr id="30" name="Text 24"/>
          <p:cNvSpPr txBox="1"/>
          <p:nvPr/>
        </p:nvSpPr>
        <p:spPr>
          <a:xfrm>
            <a:off x="5065776" y="3822192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mitmproxy sidecar</a:t>
            </a:r>
            <a:endParaRPr lang="en-US" sz="9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HAR · C2 signatures</a:t>
            </a:r>
            <a:endParaRPr lang="en-US" sz="950" dirty="0"/>
          </a:p>
        </p:txBody>
      </p:sp>
      <p:sp>
        <p:nvSpPr>
          <p:cNvPr id="31" name="Shape 25"/>
          <p:cNvSpPr/>
          <p:nvPr/>
        </p:nvSpPr>
        <p:spPr>
          <a:xfrm>
            <a:off x="6995160" y="3364992"/>
            <a:ext cx="1920240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23176" y="3493008"/>
            <a:ext cx="237744" cy="237744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7434072" y="34747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kern="0" spc="1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THREAT INTEL</a:t>
            </a:r>
            <a:endParaRPr lang="en-US" sz="1050" dirty="0"/>
          </a:p>
        </p:txBody>
      </p:sp>
      <p:sp>
        <p:nvSpPr>
          <p:cNvPr id="34" name="Text 27"/>
          <p:cNvSpPr txBox="1"/>
          <p:nvPr/>
        </p:nvSpPr>
        <p:spPr>
          <a:xfrm>
            <a:off x="7123176" y="3822192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VirusTotal · OTX</a:t>
            </a:r>
            <a:endParaRPr lang="en-US" sz="9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AbuseIPDB · 24 h cache</a:t>
            </a:r>
            <a:endParaRPr lang="en-US" sz="950" dirty="0"/>
          </a:p>
        </p:txBody>
      </p:sp>
      <p:sp>
        <p:nvSpPr>
          <p:cNvPr id="35" name="Shape 28"/>
          <p:cNvSpPr/>
          <p:nvPr/>
        </p:nvSpPr>
        <p:spPr>
          <a:xfrm>
            <a:off x="640080" y="4608576"/>
            <a:ext cx="8458200" cy="420624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Text 29"/>
          <p:cNvSpPr txBox="1"/>
          <p:nvPr/>
        </p:nvSpPr>
        <p:spPr>
          <a:xfrm>
            <a:off x="822960" y="4608576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b="1" kern="0" spc="120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EVIDENCE</a:t>
            </a:r>
            <a:endParaRPr lang="en-US" sz="950" dirty="0"/>
          </a:p>
        </p:txBody>
      </p:sp>
      <p:sp>
        <p:nvSpPr>
          <p:cNvPr id="37" name="Text 30"/>
          <p:cNvSpPr txBox="1"/>
          <p:nvPr/>
        </p:nvSpPr>
        <p:spPr>
          <a:xfrm>
            <a:off x="2788920" y="4608576"/>
            <a:ext cx="5943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Event bus → evidence store → workflow reconstructor → MITRE ATT&amp;CK</a:t>
            </a:r>
            <a:endParaRPr lang="en-US" sz="1100" dirty="0"/>
          </a:p>
        </p:txBody>
      </p:sp>
      <p:sp>
        <p:nvSpPr>
          <p:cNvPr id="38" name="Shape 31"/>
          <p:cNvSpPr/>
          <p:nvPr/>
        </p:nvSpPr>
        <p:spPr>
          <a:xfrm>
            <a:off x="640080" y="5102352"/>
            <a:ext cx="8458200" cy="420624"/>
          </a:xfrm>
          <a:prstGeom prst="roundRect">
            <a:avLst>
              <a:gd name="adj" fmla="val 15217"/>
            </a:avLst>
          </a:prstGeom>
          <a:solidFill>
            <a:srgbClr val="0F172A"/>
          </a:solidFill>
          <a:ln/>
        </p:spPr>
      </p:sp>
      <p:sp>
        <p:nvSpPr>
          <p:cNvPr id="39" name="Text 32"/>
          <p:cNvSpPr txBox="1"/>
          <p:nvPr/>
        </p:nvSpPr>
        <p:spPr>
          <a:xfrm>
            <a:off x="822960" y="5102352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b="1" kern="0" spc="120" dirty="0">
                <a:solidFill>
                  <a:srgbClr val="60A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 ENGINE</a:t>
            </a:r>
            <a:endParaRPr lang="en-US" sz="950" dirty="0"/>
          </a:p>
        </p:txBody>
      </p:sp>
      <p:sp>
        <p:nvSpPr>
          <p:cNvPr id="40" name="Text 33"/>
          <p:cNvSpPr txBox="1"/>
          <p:nvPr/>
        </p:nvSpPr>
        <p:spPr>
          <a:xfrm>
            <a:off x="2788920" y="5102352"/>
            <a:ext cx="5943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Deterministic</a:t>
            </a:r>
            <a:r>
              <a:rPr lang="en-US" sz="1100" dirty="0">
                <a:solidFill>
                  <a:srgbClr val="BFDB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STEI · BFCI v2 · FRS 0-100 · safety floors</a:t>
            </a:r>
            <a:endParaRPr lang="en-US" sz="1100" dirty="0"/>
          </a:p>
        </p:txBody>
      </p:sp>
      <p:sp>
        <p:nvSpPr>
          <p:cNvPr id="41" name="Shape 34"/>
          <p:cNvSpPr/>
          <p:nvPr/>
        </p:nvSpPr>
        <p:spPr>
          <a:xfrm>
            <a:off x="640080" y="5596128"/>
            <a:ext cx="8458200" cy="420624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 w="9525">
            <a:solidFill>
              <a:srgbClr val="94A3B8"/>
            </a:solidFill>
            <a:prstDash val="dash"/>
          </a:ln>
        </p:spPr>
      </p:sp>
      <p:sp>
        <p:nvSpPr>
          <p:cNvPr id="42" name="Text 35"/>
          <p:cNvSpPr txBox="1"/>
          <p:nvPr/>
        </p:nvSpPr>
        <p:spPr>
          <a:xfrm>
            <a:off x="822960" y="5596128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b="1" kern="0" spc="120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INVESTIGATION</a:t>
            </a:r>
            <a:endParaRPr lang="en-US" sz="950" dirty="0"/>
          </a:p>
        </p:txBody>
      </p:sp>
      <p:sp>
        <p:nvSpPr>
          <p:cNvPr id="43" name="Text 36"/>
          <p:cNvSpPr txBox="1"/>
          <p:nvPr/>
        </p:nvSpPr>
        <p:spPr>
          <a:xfrm>
            <a:off x="2788920" y="5596128"/>
            <a:ext cx="5943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Gemini 2.5 Flash RAG</a:t>
            </a: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reads evidence, cannot write the score</a:t>
            </a:r>
            <a:endParaRPr lang="en-US" sz="1100" dirty="0"/>
          </a:p>
        </p:txBody>
      </p:sp>
      <p:sp>
        <p:nvSpPr>
          <p:cNvPr id="44" name="Shape 37"/>
          <p:cNvSpPr/>
          <p:nvPr/>
        </p:nvSpPr>
        <p:spPr>
          <a:xfrm>
            <a:off x="8805672" y="1691640"/>
            <a:ext cx="0" cy="4114800"/>
          </a:xfrm>
          <a:prstGeom prst="line">
            <a:avLst/>
          </a:prstGeom>
          <a:noFill/>
          <a:ln w="25400">
            <a:solidFill>
              <a:srgbClr val="BFDBFE"/>
            </a:solidFill>
            <a:prstDash val="solid"/>
          </a:ln>
        </p:spPr>
      </p:sp>
      <p:sp>
        <p:nvSpPr>
          <p:cNvPr id="45" name="Shape 38"/>
          <p:cNvSpPr/>
          <p:nvPr/>
        </p:nvSpPr>
        <p:spPr>
          <a:xfrm>
            <a:off x="8668512" y="2048256"/>
            <a:ext cx="274320" cy="274320"/>
          </a:xfrm>
          <a:prstGeom prst="ellipse">
            <a:avLst/>
          </a:prstGeom>
          <a:solidFill>
            <a:srgbClr val="2563E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6" name="Text 39"/>
          <p:cNvSpPr txBox="1"/>
          <p:nvPr/>
        </p:nvSpPr>
        <p:spPr>
          <a:xfrm>
            <a:off x="8668512" y="20482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000" dirty="0"/>
          </a:p>
        </p:txBody>
      </p:sp>
      <p:sp>
        <p:nvSpPr>
          <p:cNvPr id="47" name="Shape 40"/>
          <p:cNvSpPr/>
          <p:nvPr/>
        </p:nvSpPr>
        <p:spPr>
          <a:xfrm>
            <a:off x="8668512" y="2542032"/>
            <a:ext cx="274320" cy="274320"/>
          </a:xfrm>
          <a:prstGeom prst="ellipse">
            <a:avLst/>
          </a:prstGeom>
          <a:solidFill>
            <a:srgbClr val="2563E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8" name="Text 41"/>
          <p:cNvSpPr txBox="1"/>
          <p:nvPr/>
        </p:nvSpPr>
        <p:spPr>
          <a:xfrm>
            <a:off x="8668512" y="25420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000" dirty="0"/>
          </a:p>
        </p:txBody>
      </p:sp>
      <p:sp>
        <p:nvSpPr>
          <p:cNvPr id="49" name="Shape 42"/>
          <p:cNvSpPr/>
          <p:nvPr/>
        </p:nvSpPr>
        <p:spPr>
          <a:xfrm>
            <a:off x="8668512" y="3611880"/>
            <a:ext cx="274320" cy="274320"/>
          </a:xfrm>
          <a:prstGeom prst="ellipse">
            <a:avLst/>
          </a:prstGeom>
          <a:solidFill>
            <a:srgbClr val="2563E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0" name="Text 43"/>
          <p:cNvSpPr txBox="1"/>
          <p:nvPr/>
        </p:nvSpPr>
        <p:spPr>
          <a:xfrm>
            <a:off x="8668512" y="3611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000" dirty="0"/>
          </a:p>
        </p:txBody>
      </p:sp>
      <p:sp>
        <p:nvSpPr>
          <p:cNvPr id="51" name="Shape 44"/>
          <p:cNvSpPr/>
          <p:nvPr/>
        </p:nvSpPr>
        <p:spPr>
          <a:xfrm>
            <a:off x="8668512" y="4681728"/>
            <a:ext cx="274320" cy="274320"/>
          </a:xfrm>
          <a:prstGeom prst="ellipse">
            <a:avLst/>
          </a:prstGeom>
          <a:solidFill>
            <a:srgbClr val="2563E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2" name="Text 45"/>
          <p:cNvSpPr txBox="1"/>
          <p:nvPr/>
        </p:nvSpPr>
        <p:spPr>
          <a:xfrm>
            <a:off x="8668512" y="46817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000" dirty="0"/>
          </a:p>
        </p:txBody>
      </p:sp>
      <p:sp>
        <p:nvSpPr>
          <p:cNvPr id="53" name="Shape 46"/>
          <p:cNvSpPr/>
          <p:nvPr/>
        </p:nvSpPr>
        <p:spPr>
          <a:xfrm>
            <a:off x="8668512" y="5175504"/>
            <a:ext cx="274320" cy="274320"/>
          </a:xfrm>
          <a:prstGeom prst="ellipse">
            <a:avLst/>
          </a:prstGeom>
          <a:solidFill>
            <a:srgbClr val="2563E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4" name="Text 47"/>
          <p:cNvSpPr txBox="1"/>
          <p:nvPr/>
        </p:nvSpPr>
        <p:spPr>
          <a:xfrm>
            <a:off x="8668512" y="51755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000" dirty="0"/>
          </a:p>
        </p:txBody>
      </p:sp>
      <p:sp>
        <p:nvSpPr>
          <p:cNvPr id="55" name="Shape 48"/>
          <p:cNvSpPr/>
          <p:nvPr/>
        </p:nvSpPr>
        <p:spPr>
          <a:xfrm>
            <a:off x="8668512" y="5669280"/>
            <a:ext cx="274320" cy="274320"/>
          </a:xfrm>
          <a:prstGeom prst="ellipse">
            <a:avLst/>
          </a:prstGeom>
          <a:solidFill>
            <a:srgbClr val="2563E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6" name="Text 49"/>
          <p:cNvSpPr txBox="1"/>
          <p:nvPr/>
        </p:nvSpPr>
        <p:spPr>
          <a:xfrm>
            <a:off x="8668512" y="5669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000" dirty="0"/>
          </a:p>
        </p:txBody>
      </p:sp>
      <p:sp>
        <p:nvSpPr>
          <p:cNvPr id="57" name="Text 50"/>
          <p:cNvSpPr txBox="1"/>
          <p:nvPr/>
        </p:nvSpPr>
        <p:spPr>
          <a:xfrm>
            <a:off x="9418320" y="148132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b="1" kern="0" spc="150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FOLLOW THE APK</a:t>
            </a:r>
            <a:endParaRPr lang="en-US" sz="1000" dirty="0"/>
          </a:p>
        </p:txBody>
      </p:sp>
      <p:sp>
        <p:nvSpPr>
          <p:cNvPr id="58" name="Shape 51"/>
          <p:cNvSpPr/>
          <p:nvPr/>
        </p:nvSpPr>
        <p:spPr>
          <a:xfrm>
            <a:off x="9418320" y="1892808"/>
            <a:ext cx="274320" cy="274320"/>
          </a:xfrm>
          <a:prstGeom prst="ellipse">
            <a:avLst/>
          </a:prstGeom>
          <a:solidFill>
            <a:srgbClr val="2563E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9" name="Text 52"/>
          <p:cNvSpPr txBox="1"/>
          <p:nvPr/>
        </p:nvSpPr>
        <p:spPr>
          <a:xfrm>
            <a:off x="9418320" y="1892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000" dirty="0"/>
          </a:p>
        </p:txBody>
      </p:sp>
      <p:sp>
        <p:nvSpPr>
          <p:cNvPr id="60" name="Text 53"/>
          <p:cNvSpPr txBox="1"/>
          <p:nvPr/>
        </p:nvSpPr>
        <p:spPr>
          <a:xfrm>
            <a:off x="9829800" y="187452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Enters through the authenticated gateway</a:t>
            </a:r>
            <a:endParaRPr lang="en-US" sz="1100" dirty="0"/>
          </a:p>
        </p:txBody>
      </p:sp>
      <p:sp>
        <p:nvSpPr>
          <p:cNvPr id="61" name="Shape 54"/>
          <p:cNvSpPr/>
          <p:nvPr/>
        </p:nvSpPr>
        <p:spPr>
          <a:xfrm>
            <a:off x="9418320" y="2578608"/>
            <a:ext cx="274320" cy="274320"/>
          </a:xfrm>
          <a:prstGeom prst="ellipse">
            <a:avLst/>
          </a:prstGeom>
          <a:solidFill>
            <a:srgbClr val="2563E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2" name="Text 55"/>
          <p:cNvSpPr txBox="1"/>
          <p:nvPr/>
        </p:nvSpPr>
        <p:spPr>
          <a:xfrm>
            <a:off x="9418320" y="2578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000" dirty="0"/>
          </a:p>
        </p:txBody>
      </p:sp>
      <p:sp>
        <p:nvSpPr>
          <p:cNvPr id="63" name="Text 56"/>
          <p:cNvSpPr txBox="1"/>
          <p:nvPr/>
        </p:nvSpPr>
        <p:spPr>
          <a:xfrm>
            <a:off x="9829800" y="256032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Queued and handed to the engine</a:t>
            </a:r>
            <a:endParaRPr lang="en-US" sz="1100" dirty="0"/>
          </a:p>
        </p:txBody>
      </p:sp>
      <p:sp>
        <p:nvSpPr>
          <p:cNvPr id="64" name="Shape 57"/>
          <p:cNvSpPr/>
          <p:nvPr/>
        </p:nvSpPr>
        <p:spPr>
          <a:xfrm>
            <a:off x="9418320" y="3264408"/>
            <a:ext cx="274320" cy="274320"/>
          </a:xfrm>
          <a:prstGeom prst="ellipse">
            <a:avLst/>
          </a:prstGeom>
          <a:solidFill>
            <a:srgbClr val="2563E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5" name="Text 58"/>
          <p:cNvSpPr txBox="1"/>
          <p:nvPr/>
        </p:nvSpPr>
        <p:spPr>
          <a:xfrm>
            <a:off x="9418320" y="3264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000" dirty="0"/>
          </a:p>
        </p:txBody>
      </p:sp>
      <p:sp>
        <p:nvSpPr>
          <p:cNvPr id="66" name="Text 59"/>
          <p:cNvSpPr txBox="1"/>
          <p:nvPr/>
        </p:nvSpPr>
        <p:spPr>
          <a:xfrm>
            <a:off x="9829800" y="324612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Decompiled, then run inside the sandbox</a:t>
            </a:r>
            <a:endParaRPr lang="en-US" sz="1100" dirty="0"/>
          </a:p>
        </p:txBody>
      </p:sp>
      <p:sp>
        <p:nvSpPr>
          <p:cNvPr id="67" name="Shape 60"/>
          <p:cNvSpPr/>
          <p:nvPr/>
        </p:nvSpPr>
        <p:spPr>
          <a:xfrm>
            <a:off x="9418320" y="3950208"/>
            <a:ext cx="274320" cy="274320"/>
          </a:xfrm>
          <a:prstGeom prst="ellipse">
            <a:avLst/>
          </a:prstGeom>
          <a:solidFill>
            <a:srgbClr val="2563E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8" name="Text 61"/>
          <p:cNvSpPr txBox="1"/>
          <p:nvPr/>
        </p:nvSpPr>
        <p:spPr>
          <a:xfrm>
            <a:off x="9418320" y="39502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000" dirty="0"/>
          </a:p>
        </p:txBody>
      </p:sp>
      <p:sp>
        <p:nvSpPr>
          <p:cNvPr id="69" name="Text 62"/>
          <p:cNvSpPr txBox="1"/>
          <p:nvPr/>
        </p:nvSpPr>
        <p:spPr>
          <a:xfrm>
            <a:off x="9829800" y="393192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Normalised into tagged evidence</a:t>
            </a:r>
            <a:endParaRPr lang="en-US" sz="1100" dirty="0"/>
          </a:p>
        </p:txBody>
      </p:sp>
      <p:sp>
        <p:nvSpPr>
          <p:cNvPr id="70" name="Shape 63"/>
          <p:cNvSpPr/>
          <p:nvPr/>
        </p:nvSpPr>
        <p:spPr>
          <a:xfrm>
            <a:off x="9418320" y="4636008"/>
            <a:ext cx="274320" cy="274320"/>
          </a:xfrm>
          <a:prstGeom prst="ellipse">
            <a:avLst/>
          </a:prstGeom>
          <a:solidFill>
            <a:srgbClr val="2563E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1" name="Text 64"/>
          <p:cNvSpPr txBox="1"/>
          <p:nvPr/>
        </p:nvSpPr>
        <p:spPr>
          <a:xfrm>
            <a:off x="9418320" y="4636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000" dirty="0"/>
          </a:p>
        </p:txBody>
      </p:sp>
      <p:sp>
        <p:nvSpPr>
          <p:cNvPr id="72" name="Text 65"/>
          <p:cNvSpPr txBox="1"/>
          <p:nvPr/>
        </p:nvSpPr>
        <p:spPr>
          <a:xfrm>
            <a:off x="9829800" y="461772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Scored by fixed formulas</a:t>
            </a:r>
            <a:endParaRPr lang="en-US" sz="1100" dirty="0"/>
          </a:p>
        </p:txBody>
      </p:sp>
      <p:sp>
        <p:nvSpPr>
          <p:cNvPr id="73" name="Shape 66"/>
          <p:cNvSpPr/>
          <p:nvPr/>
        </p:nvSpPr>
        <p:spPr>
          <a:xfrm>
            <a:off x="9418320" y="5321808"/>
            <a:ext cx="274320" cy="274320"/>
          </a:xfrm>
          <a:prstGeom prst="ellipse">
            <a:avLst/>
          </a:prstGeom>
          <a:solidFill>
            <a:srgbClr val="2563E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4" name="Text 67"/>
          <p:cNvSpPr txBox="1"/>
          <p:nvPr/>
        </p:nvSpPr>
        <p:spPr>
          <a:xfrm>
            <a:off x="9418320" y="5321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000" dirty="0"/>
          </a:p>
        </p:txBody>
      </p:sp>
      <p:sp>
        <p:nvSpPr>
          <p:cNvPr id="75" name="Text 68"/>
          <p:cNvSpPr txBox="1"/>
          <p:nvPr/>
        </p:nvSpPr>
        <p:spPr>
          <a:xfrm>
            <a:off x="9829800" y="530352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Explained by AI, decided by the analyst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kern="0" spc="200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END-TO-END PIPELINE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31520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APK. Six stages. One scored case file.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98448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stage runs automatically and writes to the same evidence record.</a:t>
            </a:r>
            <a:endParaRPr lang="en-US" sz="1400" dirty="0"/>
          </a:p>
        </p:txBody>
      </p:sp>
      <p:pic>
        <p:nvPicPr>
          <p:cNvPr id="5" name="Image 0" descr="D:/Projects/Sudarshan BOI/frontend/logo/SUDARSHAN_LOGO_COLOU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6455664"/>
            <a:ext cx="182880" cy="1828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96112" y="64465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kern="0" spc="1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SUDARSHAN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0424160" y="6446520"/>
            <a:ext cx="11274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/  15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640080" y="2377440"/>
            <a:ext cx="822960" cy="822960"/>
          </a:xfrm>
          <a:prstGeom prst="roundRect">
            <a:avLst>
              <a:gd name="adj" fmla="val 11111"/>
            </a:avLst>
          </a:prstGeom>
          <a:solidFill>
            <a:srgbClr val="0F172A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" y="2596896"/>
            <a:ext cx="384048" cy="38404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48640" y="329184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kern="0" spc="1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APK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1463040" y="2788920"/>
            <a:ext cx="9555480" cy="0"/>
          </a:xfrm>
          <a:prstGeom prst="line">
            <a:avLst/>
          </a:prstGeom>
          <a:noFill/>
          <a:ln w="38100">
            <a:solidFill>
              <a:srgbClr val="BFDBFE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1600200" y="202996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1911096" y="2368296"/>
            <a:ext cx="841248" cy="8412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39696" y="2596896"/>
            <a:ext cx="384048" cy="384048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572768" y="3337560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Static analysis</a:t>
            </a:r>
            <a:endParaRPr lang="en-US" sz="1250" dirty="0"/>
          </a:p>
        </p:txBody>
      </p:sp>
      <p:sp>
        <p:nvSpPr>
          <p:cNvPr id="16" name="Text 11"/>
          <p:cNvSpPr txBox="1"/>
          <p:nvPr/>
        </p:nvSpPr>
        <p:spPr>
          <a:xfrm>
            <a:off x="1600200" y="3630168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Decompile; read manifest, permissions, code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1673352" y="4270248"/>
            <a:ext cx="1316736" cy="292608"/>
          </a:xfrm>
          <a:prstGeom prst="roundRect">
            <a:avLst>
              <a:gd name="adj" fmla="val 18750"/>
            </a:avLst>
          </a:prstGeom>
          <a:solidFill>
            <a:srgbClr val="EFF6FF"/>
          </a:solidFill>
          <a:ln w="9525">
            <a:solidFill>
              <a:srgbClr val="BFDBFE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1673352" y="4270248"/>
            <a:ext cx="1316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STEI · VIDE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2825496" y="2788920"/>
            <a:ext cx="585216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20" name="Text 15"/>
          <p:cNvSpPr txBox="1"/>
          <p:nvPr/>
        </p:nvSpPr>
        <p:spPr>
          <a:xfrm>
            <a:off x="3172968" y="202996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3483864" y="2368296"/>
            <a:ext cx="841248" cy="8412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12464" y="2596896"/>
            <a:ext cx="384048" cy="384048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3145536" y="3337560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Sandbox run</a:t>
            </a:r>
            <a:endParaRPr lang="en-US" sz="1250" dirty="0"/>
          </a:p>
        </p:txBody>
      </p:sp>
      <p:sp>
        <p:nvSpPr>
          <p:cNvPr id="24" name="Text 18"/>
          <p:cNvSpPr txBox="1"/>
          <p:nvPr/>
        </p:nvSpPr>
        <p:spPr>
          <a:xfrm>
            <a:off x="3172968" y="3630168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Instrumented emulator records behaviour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3246120" y="4270248"/>
            <a:ext cx="1316736" cy="292608"/>
          </a:xfrm>
          <a:prstGeom prst="roundRect">
            <a:avLst>
              <a:gd name="adj" fmla="val 18750"/>
            </a:avLst>
          </a:prstGeom>
          <a:solidFill>
            <a:srgbClr val="EFF6FF"/>
          </a:solidFill>
          <a:ln w="9525">
            <a:solidFill>
              <a:srgbClr val="BFDBFE"/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3246120" y="4270248"/>
            <a:ext cx="1316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hook events</a:t>
            </a:r>
            <a:endParaRPr lang="en-US" sz="900" dirty="0"/>
          </a:p>
        </p:txBody>
      </p:sp>
      <p:sp>
        <p:nvSpPr>
          <p:cNvPr id="27" name="Shape 21"/>
          <p:cNvSpPr/>
          <p:nvPr/>
        </p:nvSpPr>
        <p:spPr>
          <a:xfrm>
            <a:off x="4398264" y="2788920"/>
            <a:ext cx="585216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28" name="Text 22"/>
          <p:cNvSpPr txBox="1"/>
          <p:nvPr/>
        </p:nvSpPr>
        <p:spPr>
          <a:xfrm>
            <a:off x="4745736" y="202996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100" dirty="0"/>
          </a:p>
        </p:txBody>
      </p:sp>
      <p:sp>
        <p:nvSpPr>
          <p:cNvPr id="29" name="Shape 23"/>
          <p:cNvSpPr/>
          <p:nvPr/>
        </p:nvSpPr>
        <p:spPr>
          <a:xfrm>
            <a:off x="5056632" y="2368296"/>
            <a:ext cx="841248" cy="8412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85232" y="2596896"/>
            <a:ext cx="384048" cy="384048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4718304" y="3337560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Threat intelligence</a:t>
            </a:r>
            <a:endParaRPr lang="en-US" sz="1250" dirty="0"/>
          </a:p>
        </p:txBody>
      </p:sp>
      <p:sp>
        <p:nvSpPr>
          <p:cNvPr id="32" name="Text 25"/>
          <p:cNvSpPr txBox="1"/>
          <p:nvPr/>
        </p:nvSpPr>
        <p:spPr>
          <a:xfrm>
            <a:off x="4745736" y="3630168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Match hashes, domains and families</a:t>
            </a:r>
            <a:endParaRPr lang="en-US" sz="1000" dirty="0"/>
          </a:p>
        </p:txBody>
      </p:sp>
      <p:sp>
        <p:nvSpPr>
          <p:cNvPr id="33" name="Shape 26"/>
          <p:cNvSpPr/>
          <p:nvPr/>
        </p:nvSpPr>
        <p:spPr>
          <a:xfrm>
            <a:off x="4818888" y="4270248"/>
            <a:ext cx="1316736" cy="292608"/>
          </a:xfrm>
          <a:prstGeom prst="roundRect">
            <a:avLst>
              <a:gd name="adj" fmla="val 18750"/>
            </a:avLst>
          </a:prstGeom>
          <a:solidFill>
            <a:srgbClr val="EFF6FF"/>
          </a:solidFill>
          <a:ln w="9525">
            <a:solidFill>
              <a:srgbClr val="BFDBFE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4818888" y="4270248"/>
            <a:ext cx="1316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IOC matches</a:t>
            </a:r>
            <a:endParaRPr lang="en-US" sz="900" dirty="0"/>
          </a:p>
        </p:txBody>
      </p:sp>
      <p:sp>
        <p:nvSpPr>
          <p:cNvPr id="35" name="Shape 28"/>
          <p:cNvSpPr/>
          <p:nvPr/>
        </p:nvSpPr>
        <p:spPr>
          <a:xfrm>
            <a:off x="5971032" y="2788920"/>
            <a:ext cx="585216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36" name="Text 29"/>
          <p:cNvSpPr txBox="1"/>
          <p:nvPr/>
        </p:nvSpPr>
        <p:spPr>
          <a:xfrm>
            <a:off x="6318504" y="202996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100" dirty="0"/>
          </a:p>
        </p:txBody>
      </p:sp>
      <p:sp>
        <p:nvSpPr>
          <p:cNvPr id="37" name="Shape 30"/>
          <p:cNvSpPr/>
          <p:nvPr/>
        </p:nvSpPr>
        <p:spPr>
          <a:xfrm>
            <a:off x="6629400" y="2368296"/>
            <a:ext cx="841248" cy="8412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0" y="2596896"/>
            <a:ext cx="384048" cy="384048"/>
          </a:xfrm>
          <a:prstGeom prst="rect">
            <a:avLst/>
          </a:prstGeom>
        </p:spPr>
      </p:pic>
      <p:sp>
        <p:nvSpPr>
          <p:cNvPr id="39" name="Text 31"/>
          <p:cNvSpPr txBox="1"/>
          <p:nvPr/>
        </p:nvSpPr>
        <p:spPr>
          <a:xfrm>
            <a:off x="6291072" y="3337560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 scoring</a:t>
            </a:r>
            <a:endParaRPr lang="en-US" sz="1250" dirty="0"/>
          </a:p>
        </p:txBody>
      </p:sp>
      <p:sp>
        <p:nvSpPr>
          <p:cNvPr id="40" name="Text 32"/>
          <p:cNvSpPr txBox="1"/>
          <p:nvPr/>
        </p:nvSpPr>
        <p:spPr>
          <a:xfrm>
            <a:off x="6318504" y="3630168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Combine evidence into a 0-100 score</a:t>
            </a:r>
            <a:endParaRPr lang="en-US" sz="1000" dirty="0"/>
          </a:p>
        </p:txBody>
      </p:sp>
      <p:sp>
        <p:nvSpPr>
          <p:cNvPr id="41" name="Shape 33"/>
          <p:cNvSpPr/>
          <p:nvPr/>
        </p:nvSpPr>
        <p:spPr>
          <a:xfrm>
            <a:off x="6391656" y="4270248"/>
            <a:ext cx="1316736" cy="292608"/>
          </a:xfrm>
          <a:prstGeom prst="roundRect">
            <a:avLst>
              <a:gd name="adj" fmla="val 18750"/>
            </a:avLst>
          </a:prstGeom>
          <a:solidFill>
            <a:srgbClr val="EFF6FF"/>
          </a:solidFill>
          <a:ln w="9525">
            <a:solidFill>
              <a:srgbClr val="BFDBFE"/>
            </a:solidFill>
            <a:prstDash val="solid"/>
          </a:ln>
        </p:spPr>
      </p:sp>
      <p:sp>
        <p:nvSpPr>
          <p:cNvPr id="42" name="Text 34"/>
          <p:cNvSpPr txBox="1"/>
          <p:nvPr/>
        </p:nvSpPr>
        <p:spPr>
          <a:xfrm>
            <a:off x="6391656" y="4270248"/>
            <a:ext cx="1316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FRS + band</a:t>
            </a:r>
            <a:endParaRPr lang="en-US" sz="900" dirty="0"/>
          </a:p>
        </p:txBody>
      </p:sp>
      <p:sp>
        <p:nvSpPr>
          <p:cNvPr id="43" name="Shape 35"/>
          <p:cNvSpPr/>
          <p:nvPr/>
        </p:nvSpPr>
        <p:spPr>
          <a:xfrm>
            <a:off x="7543800" y="2788920"/>
            <a:ext cx="585216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44" name="Text 36"/>
          <p:cNvSpPr txBox="1"/>
          <p:nvPr/>
        </p:nvSpPr>
        <p:spPr>
          <a:xfrm>
            <a:off x="7891272" y="202996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1100" dirty="0"/>
          </a:p>
        </p:txBody>
      </p:sp>
      <p:sp>
        <p:nvSpPr>
          <p:cNvPr id="45" name="Shape 37"/>
          <p:cNvSpPr/>
          <p:nvPr/>
        </p:nvSpPr>
        <p:spPr>
          <a:xfrm>
            <a:off x="8202168" y="2368296"/>
            <a:ext cx="841248" cy="8412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pic>
        <p:nvPicPr>
          <p:cNvPr id="4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30768" y="2596896"/>
            <a:ext cx="384048" cy="384048"/>
          </a:xfrm>
          <a:prstGeom prst="rect">
            <a:avLst/>
          </a:prstGeom>
        </p:spPr>
      </p:pic>
      <p:sp>
        <p:nvSpPr>
          <p:cNvPr id="47" name="Text 38"/>
          <p:cNvSpPr txBox="1"/>
          <p:nvPr/>
        </p:nvSpPr>
        <p:spPr>
          <a:xfrm>
            <a:off x="7863840" y="3337560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Investigation</a:t>
            </a:r>
            <a:endParaRPr lang="en-US" sz="1250" dirty="0"/>
          </a:p>
        </p:txBody>
      </p:sp>
      <p:sp>
        <p:nvSpPr>
          <p:cNvPr id="48" name="Text 39"/>
          <p:cNvSpPr txBox="1"/>
          <p:nvPr/>
        </p:nvSpPr>
        <p:spPr>
          <a:xfrm>
            <a:off x="7891272" y="3630168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Narrative and recommended next steps</a:t>
            </a:r>
            <a:endParaRPr lang="en-US" sz="1000" dirty="0"/>
          </a:p>
        </p:txBody>
      </p:sp>
      <p:sp>
        <p:nvSpPr>
          <p:cNvPr id="49" name="Shape 40"/>
          <p:cNvSpPr/>
          <p:nvPr/>
        </p:nvSpPr>
        <p:spPr>
          <a:xfrm>
            <a:off x="7964424" y="4270248"/>
            <a:ext cx="1316736" cy="292608"/>
          </a:xfrm>
          <a:prstGeom prst="roundRect">
            <a:avLst>
              <a:gd name="adj" fmla="val 18750"/>
            </a:avLst>
          </a:prstGeom>
          <a:solidFill>
            <a:srgbClr val="EFF6FF"/>
          </a:solidFill>
          <a:ln w="9525">
            <a:solidFill>
              <a:srgbClr val="BFDBFE"/>
            </a:solidFill>
            <a:prstDash val="solid"/>
          </a:ln>
        </p:spPr>
      </p:sp>
      <p:sp>
        <p:nvSpPr>
          <p:cNvPr id="50" name="Text 41"/>
          <p:cNvSpPr txBox="1"/>
          <p:nvPr/>
        </p:nvSpPr>
        <p:spPr>
          <a:xfrm>
            <a:off x="7964424" y="4270248"/>
            <a:ext cx="1316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grounded AI</a:t>
            </a:r>
            <a:endParaRPr lang="en-US" sz="900" dirty="0"/>
          </a:p>
        </p:txBody>
      </p:sp>
      <p:sp>
        <p:nvSpPr>
          <p:cNvPr id="51" name="Shape 42"/>
          <p:cNvSpPr/>
          <p:nvPr/>
        </p:nvSpPr>
        <p:spPr>
          <a:xfrm>
            <a:off x="9116568" y="2788920"/>
            <a:ext cx="585216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52" name="Text 43"/>
          <p:cNvSpPr txBox="1"/>
          <p:nvPr/>
        </p:nvSpPr>
        <p:spPr>
          <a:xfrm>
            <a:off x="9464040" y="202996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n-US" sz="1100" dirty="0"/>
          </a:p>
        </p:txBody>
      </p:sp>
      <p:sp>
        <p:nvSpPr>
          <p:cNvPr id="53" name="Shape 44"/>
          <p:cNvSpPr/>
          <p:nvPr/>
        </p:nvSpPr>
        <p:spPr>
          <a:xfrm>
            <a:off x="9774936" y="2368296"/>
            <a:ext cx="841248" cy="8412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pic>
        <p:nvPicPr>
          <p:cNvPr id="54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003536" y="2596896"/>
            <a:ext cx="384048" cy="384048"/>
          </a:xfrm>
          <a:prstGeom prst="rect">
            <a:avLst/>
          </a:prstGeom>
        </p:spPr>
      </p:pic>
      <p:sp>
        <p:nvSpPr>
          <p:cNvPr id="55" name="Text 45"/>
          <p:cNvSpPr txBox="1"/>
          <p:nvPr/>
        </p:nvSpPr>
        <p:spPr>
          <a:xfrm>
            <a:off x="9436608" y="3337560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Case report</a:t>
            </a:r>
            <a:endParaRPr lang="en-US" sz="1250" dirty="0"/>
          </a:p>
        </p:txBody>
      </p:sp>
      <p:sp>
        <p:nvSpPr>
          <p:cNvPr id="56" name="Text 46"/>
          <p:cNvSpPr txBox="1"/>
          <p:nvPr/>
        </p:nvSpPr>
        <p:spPr>
          <a:xfrm>
            <a:off x="9464040" y="3630168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Fraud card with exportable evidence</a:t>
            </a:r>
            <a:endParaRPr lang="en-US" sz="1000" dirty="0"/>
          </a:p>
        </p:txBody>
      </p:sp>
      <p:sp>
        <p:nvSpPr>
          <p:cNvPr id="57" name="Shape 47"/>
          <p:cNvSpPr/>
          <p:nvPr/>
        </p:nvSpPr>
        <p:spPr>
          <a:xfrm>
            <a:off x="9537192" y="4270248"/>
            <a:ext cx="1316736" cy="292608"/>
          </a:xfrm>
          <a:prstGeom prst="roundRect">
            <a:avLst>
              <a:gd name="adj" fmla="val 18750"/>
            </a:avLst>
          </a:prstGeom>
          <a:solidFill>
            <a:srgbClr val="EFF6FF"/>
          </a:solidFill>
          <a:ln w="9525">
            <a:solidFill>
              <a:srgbClr val="BFDBFE"/>
            </a:solidFill>
            <a:prstDash val="solid"/>
          </a:ln>
        </p:spPr>
      </p:sp>
      <p:sp>
        <p:nvSpPr>
          <p:cNvPr id="58" name="Text 48"/>
          <p:cNvSpPr txBox="1"/>
          <p:nvPr/>
        </p:nvSpPr>
        <p:spPr>
          <a:xfrm>
            <a:off x="9537192" y="4270248"/>
            <a:ext cx="1316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PDF · STIX 2.1</a:t>
            </a:r>
            <a:endParaRPr lang="en-US" sz="900" dirty="0"/>
          </a:p>
        </p:txBody>
      </p:sp>
      <p:sp>
        <p:nvSpPr>
          <p:cNvPr id="59" name="Shape 49"/>
          <p:cNvSpPr/>
          <p:nvPr/>
        </p:nvSpPr>
        <p:spPr>
          <a:xfrm>
            <a:off x="1508760" y="2788920"/>
            <a:ext cx="329184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60" name="Shape 50"/>
          <p:cNvSpPr/>
          <p:nvPr/>
        </p:nvSpPr>
        <p:spPr>
          <a:xfrm>
            <a:off x="10689336" y="2788920"/>
            <a:ext cx="310896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61" name="Shape 51"/>
          <p:cNvSpPr/>
          <p:nvPr/>
        </p:nvSpPr>
        <p:spPr>
          <a:xfrm>
            <a:off x="11018520" y="2532888"/>
            <a:ext cx="512064" cy="512064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62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146536" y="2660904"/>
            <a:ext cx="256032" cy="256032"/>
          </a:xfrm>
          <a:prstGeom prst="rect">
            <a:avLst/>
          </a:prstGeom>
        </p:spPr>
      </p:pic>
      <p:sp>
        <p:nvSpPr>
          <p:cNvPr id="63" name="Text 52"/>
          <p:cNvSpPr txBox="1"/>
          <p:nvPr/>
        </p:nvSpPr>
        <p:spPr>
          <a:xfrm>
            <a:off x="10725912" y="311810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kern="0" spc="1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ANALYST</a:t>
            </a:r>
            <a:endParaRPr lang="en-US" sz="1000" dirty="0"/>
          </a:p>
        </p:txBody>
      </p:sp>
      <p:sp>
        <p:nvSpPr>
          <p:cNvPr id="64" name="Text 53"/>
          <p:cNvSpPr txBox="1"/>
          <p:nvPr/>
        </p:nvSpPr>
        <p:spPr>
          <a:xfrm>
            <a:off x="640080" y="489204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b="1" kern="0" spc="1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 THE REAL CONSOLE</a:t>
            </a:r>
            <a:endParaRPr lang="en-US" sz="1000" dirty="0"/>
          </a:p>
        </p:txBody>
      </p:sp>
      <p:sp>
        <p:nvSpPr>
          <p:cNvPr id="65" name="Shape 54"/>
          <p:cNvSpPr/>
          <p:nvPr/>
        </p:nvSpPr>
        <p:spPr>
          <a:xfrm>
            <a:off x="612648" y="5138928"/>
            <a:ext cx="5907024" cy="1060704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F172A">
                <a:alpha val="10000"/>
              </a:srgbClr>
            </a:outerShdw>
          </a:effectLst>
        </p:spPr>
      </p:sp>
      <p:pic>
        <p:nvPicPr>
          <p:cNvPr id="66" name="Image 9" descr="C:\Users\sansk\AppData\Local\Temp\claude\D--Projects-Sudarshan-BOI\7ae2fbd2-8d8e-4c16-a005-dd078c20e25b\scratchpad\img\stepper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0080" y="5166360"/>
            <a:ext cx="5852160" cy="1005840"/>
          </a:xfrm>
          <a:prstGeom prst="rect">
            <a:avLst/>
          </a:prstGeom>
        </p:spPr>
      </p:pic>
      <p:sp>
        <p:nvSpPr>
          <p:cNvPr id="67" name="Text 55"/>
          <p:cNvSpPr txBox="1"/>
          <p:nvPr/>
        </p:nvSpPr>
        <p:spPr>
          <a:xfrm>
            <a:off x="6949440" y="516636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same six stages drive the live progress view</a:t>
            </a:r>
            <a:endParaRPr lang="en-US" sz="12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Status comes from the backend job, so the analyst sees where each APK is.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kern="0" spc="200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STATIC THREAT INTELLIGENCE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31520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 the APK before it ever runs.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98448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Decompilers and matchers turn bytecode into scored indicators. VIDE flags lookalike bank apps.</a:t>
            </a:r>
            <a:endParaRPr lang="en-US" sz="1400" dirty="0"/>
          </a:p>
        </p:txBody>
      </p:sp>
      <p:pic>
        <p:nvPicPr>
          <p:cNvPr id="5" name="Image 0" descr="D:/Projects/Sudarshan BOI/frontend/logo/SUDARSHAN_LOGO_COLOU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6455664"/>
            <a:ext cx="182880" cy="1828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96112" y="64465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kern="0" spc="1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SUDARSHAN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0424160" y="6446520"/>
            <a:ext cx="11274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/  15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640080" y="2971800"/>
            <a:ext cx="1234440" cy="1371600"/>
          </a:xfrm>
          <a:prstGeom prst="roundRect">
            <a:avLst>
              <a:gd name="adj" fmla="val 7407"/>
            </a:avLst>
          </a:prstGeom>
          <a:solidFill>
            <a:srgbClr val="0F172A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3200400"/>
            <a:ext cx="411480" cy="41148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40080" y="370332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kern="0" spc="1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APK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640080" y="395020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dirty="0">
                <a:solidFill>
                  <a:srgbClr val="BFDB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auto-repaired</a:t>
            </a:r>
            <a:endParaRPr lang="en-US" sz="850" dirty="0"/>
          </a:p>
        </p:txBody>
      </p:sp>
      <p:sp>
        <p:nvSpPr>
          <p:cNvPr id="12" name="Shape 8"/>
          <p:cNvSpPr/>
          <p:nvPr/>
        </p:nvSpPr>
        <p:spPr>
          <a:xfrm flipV="1">
            <a:off x="1874520" y="2194560"/>
            <a:ext cx="548640" cy="1463040"/>
          </a:xfrm>
          <a:prstGeom prst="line">
            <a:avLst/>
          </a:prstGeom>
          <a:noFill/>
          <a:ln w="15875">
            <a:solidFill>
              <a:srgbClr val="93C5FD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2423160" y="1920240"/>
            <a:ext cx="1600200" cy="548640"/>
          </a:xfrm>
          <a:prstGeom prst="roundRect">
            <a:avLst>
              <a:gd name="adj" fmla="val 13333"/>
            </a:avLst>
          </a:prstGeom>
          <a:solidFill>
            <a:srgbClr val="EFF6FF"/>
          </a:solidFill>
          <a:ln w="9525">
            <a:solidFill>
              <a:srgbClr val="BFDBFE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2423160" y="192024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Androguard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4069080" y="2194560"/>
            <a:ext cx="365760" cy="0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6" name="Text 12"/>
          <p:cNvSpPr txBox="1"/>
          <p:nvPr/>
        </p:nvSpPr>
        <p:spPr>
          <a:xfrm>
            <a:off x="4526280" y="19202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Manifest, permissions, components, entropy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 flipV="1">
            <a:off x="1874520" y="3063240"/>
            <a:ext cx="548640" cy="594360"/>
          </a:xfrm>
          <a:prstGeom prst="line">
            <a:avLst/>
          </a:prstGeom>
          <a:noFill/>
          <a:ln w="15875">
            <a:solidFill>
              <a:srgbClr val="93C5FD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2423160" y="2788920"/>
            <a:ext cx="1600200" cy="548640"/>
          </a:xfrm>
          <a:prstGeom prst="roundRect">
            <a:avLst>
              <a:gd name="adj" fmla="val 13333"/>
            </a:avLst>
          </a:prstGeom>
          <a:solidFill>
            <a:srgbClr val="EFF6FF"/>
          </a:solidFill>
          <a:ln w="9525">
            <a:solidFill>
              <a:srgbClr val="BFDBFE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2423160" y="278892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APKTool 2.10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4069080" y="3063240"/>
            <a:ext cx="365760" cy="0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21" name="Text 17"/>
          <p:cNvSpPr txBox="1"/>
          <p:nvPr/>
        </p:nvSpPr>
        <p:spPr>
          <a:xfrm>
            <a:off x="4526280" y="27889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Resources, smali, layout XML</a:t>
            </a:r>
            <a:endParaRPr lang="en-US" sz="1150" dirty="0"/>
          </a:p>
        </p:txBody>
      </p:sp>
      <p:sp>
        <p:nvSpPr>
          <p:cNvPr id="22" name="Shape 18"/>
          <p:cNvSpPr/>
          <p:nvPr/>
        </p:nvSpPr>
        <p:spPr>
          <a:xfrm>
            <a:off x="1874520" y="3657600"/>
            <a:ext cx="548640" cy="274320"/>
          </a:xfrm>
          <a:prstGeom prst="line">
            <a:avLst/>
          </a:prstGeom>
          <a:noFill/>
          <a:ln w="15875">
            <a:solidFill>
              <a:srgbClr val="93C5FD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2423160" y="3657600"/>
            <a:ext cx="1600200" cy="548640"/>
          </a:xfrm>
          <a:prstGeom prst="roundRect">
            <a:avLst>
              <a:gd name="adj" fmla="val 13333"/>
            </a:avLst>
          </a:prstGeom>
          <a:solidFill>
            <a:srgbClr val="EFF6FF"/>
          </a:solidFill>
          <a:ln w="9525">
            <a:solidFill>
              <a:srgbClr val="BFDBFE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2423160" y="365760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JADX 1.5.1</a:t>
            </a:r>
            <a:endParaRPr lang="en-US" sz="1250" dirty="0"/>
          </a:p>
        </p:txBody>
      </p:sp>
      <p:sp>
        <p:nvSpPr>
          <p:cNvPr id="25" name="Shape 21"/>
          <p:cNvSpPr/>
          <p:nvPr/>
        </p:nvSpPr>
        <p:spPr>
          <a:xfrm>
            <a:off x="4069080" y="3931920"/>
            <a:ext cx="365760" cy="0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26" name="Text 22"/>
          <p:cNvSpPr txBox="1"/>
          <p:nvPr/>
        </p:nvSpPr>
        <p:spPr>
          <a:xfrm>
            <a:off x="4526280" y="36576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 source, fraud-pattern scan</a:t>
            </a:r>
            <a:endParaRPr lang="en-US" sz="1150" dirty="0"/>
          </a:p>
        </p:txBody>
      </p:sp>
      <p:sp>
        <p:nvSpPr>
          <p:cNvPr id="27" name="Shape 23"/>
          <p:cNvSpPr/>
          <p:nvPr/>
        </p:nvSpPr>
        <p:spPr>
          <a:xfrm>
            <a:off x="1874520" y="3657600"/>
            <a:ext cx="548640" cy="1143000"/>
          </a:xfrm>
          <a:prstGeom prst="line">
            <a:avLst/>
          </a:prstGeom>
          <a:noFill/>
          <a:ln w="15875">
            <a:solidFill>
              <a:srgbClr val="93C5FD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2423160" y="4526280"/>
            <a:ext cx="1600200" cy="548640"/>
          </a:xfrm>
          <a:prstGeom prst="roundRect">
            <a:avLst>
              <a:gd name="adj" fmla="val 13333"/>
            </a:avLst>
          </a:prstGeom>
          <a:solidFill>
            <a:srgbClr val="2563EB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2423160" y="45262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VIDE</a:t>
            </a:r>
            <a:endParaRPr lang="en-US" sz="1250" dirty="0"/>
          </a:p>
        </p:txBody>
      </p:sp>
      <p:sp>
        <p:nvSpPr>
          <p:cNvPr id="30" name="Shape 26"/>
          <p:cNvSpPr/>
          <p:nvPr/>
        </p:nvSpPr>
        <p:spPr>
          <a:xfrm>
            <a:off x="4069080" y="4800600"/>
            <a:ext cx="365760" cy="0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31" name="Text 27"/>
          <p:cNvSpPr txBox="1"/>
          <p:nvPr/>
        </p:nvSpPr>
        <p:spPr>
          <a:xfrm>
            <a:off x="4526280" y="45262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Visual impersonation of bank apps</a:t>
            </a:r>
            <a:endParaRPr lang="en-US" sz="1150" dirty="0"/>
          </a:p>
        </p:txBody>
      </p:sp>
      <p:sp>
        <p:nvSpPr>
          <p:cNvPr id="32" name="Text 28"/>
          <p:cNvSpPr txBox="1"/>
          <p:nvPr/>
        </p:nvSpPr>
        <p:spPr>
          <a:xfrm>
            <a:off x="7498080" y="1874520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STEI</a:t>
            </a:r>
            <a:r>
              <a:rPr lang="en-US" sz="13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Static Threat Evaluation Index</a:t>
            </a:r>
            <a:endParaRPr lang="en-US" sz="1300" dirty="0"/>
          </a:p>
        </p:txBody>
      </p:sp>
      <p:sp>
        <p:nvSpPr>
          <p:cNvPr id="33" name="Shape 29"/>
          <p:cNvSpPr/>
          <p:nvPr/>
        </p:nvSpPr>
        <p:spPr>
          <a:xfrm>
            <a:off x="7498080" y="2286000"/>
            <a:ext cx="2403043" cy="45720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4" name="Text 30"/>
          <p:cNvSpPr txBox="1"/>
          <p:nvPr/>
        </p:nvSpPr>
        <p:spPr>
          <a:xfrm>
            <a:off x="7498080" y="2286000"/>
            <a:ext cx="24304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CT 0.60</a:t>
            </a:r>
            <a:endParaRPr lang="en-US" sz="1000" dirty="0"/>
          </a:p>
        </p:txBody>
      </p:sp>
      <p:sp>
        <p:nvSpPr>
          <p:cNvPr id="35" name="Shape 31"/>
          <p:cNvSpPr/>
          <p:nvPr/>
        </p:nvSpPr>
        <p:spPr>
          <a:xfrm>
            <a:off x="9928555" y="2286000"/>
            <a:ext cx="782726" cy="457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6" name="Text 32"/>
          <p:cNvSpPr txBox="1"/>
          <p:nvPr/>
        </p:nvSpPr>
        <p:spPr>
          <a:xfrm>
            <a:off x="9928555" y="2286000"/>
            <a:ext cx="8101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BT 0.20</a:t>
            </a:r>
            <a:endParaRPr lang="en-US" sz="1000" dirty="0"/>
          </a:p>
        </p:txBody>
      </p:sp>
      <p:sp>
        <p:nvSpPr>
          <p:cNvPr id="37" name="Shape 33"/>
          <p:cNvSpPr/>
          <p:nvPr/>
        </p:nvSpPr>
        <p:spPr>
          <a:xfrm>
            <a:off x="10738714" y="2286000"/>
            <a:ext cx="377647" cy="457200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38" name="Shape 34"/>
          <p:cNvSpPr/>
          <p:nvPr/>
        </p:nvSpPr>
        <p:spPr>
          <a:xfrm>
            <a:off x="11143793" y="2286000"/>
            <a:ext cx="175108" cy="457200"/>
          </a:xfrm>
          <a:prstGeom prst="rect">
            <a:avLst/>
          </a:prstGeom>
          <a:solidFill>
            <a:srgbClr val="93C5FD"/>
          </a:solidFill>
          <a:ln/>
        </p:spPr>
      </p:sp>
      <p:sp>
        <p:nvSpPr>
          <p:cNvPr id="39" name="Shape 35"/>
          <p:cNvSpPr/>
          <p:nvPr/>
        </p:nvSpPr>
        <p:spPr>
          <a:xfrm>
            <a:off x="11346332" y="2286000"/>
            <a:ext cx="175108" cy="457200"/>
          </a:xfrm>
          <a:prstGeom prst="rect">
            <a:avLst/>
          </a:prstGeom>
          <a:solidFill>
            <a:srgbClr val="BFDBFE"/>
          </a:solidFill>
          <a:ln/>
        </p:spPr>
      </p:sp>
      <p:sp>
        <p:nvSpPr>
          <p:cNvPr id="40" name="Text 36"/>
          <p:cNvSpPr txBox="1"/>
          <p:nvPr/>
        </p:nvSpPr>
        <p:spPr>
          <a:xfrm>
            <a:off x="7498080" y="2807208"/>
            <a:ext cx="4050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CT credential theft · BT banking targeting · PR permissions 0.10 · OB obfuscation 0.05 · IR infrastructure 0.05</a:t>
            </a:r>
            <a:endParaRPr lang="en-US" sz="950" dirty="0"/>
          </a:p>
        </p:txBody>
      </p:sp>
      <p:sp>
        <p:nvSpPr>
          <p:cNvPr id="41" name="Text 37"/>
          <p:cNvSpPr txBox="1"/>
          <p:nvPr/>
        </p:nvSpPr>
        <p:spPr>
          <a:xfrm>
            <a:off x="7498080" y="3429000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VIDE</a:t>
            </a:r>
            <a:r>
              <a:rPr lang="en-US" sz="13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four independent axes</a:t>
            </a:r>
            <a:endParaRPr lang="en-US" sz="1300" dirty="0"/>
          </a:p>
        </p:txBody>
      </p:sp>
      <p:sp>
        <p:nvSpPr>
          <p:cNvPr id="42" name="Shape 38"/>
          <p:cNvSpPr/>
          <p:nvPr/>
        </p:nvSpPr>
        <p:spPr>
          <a:xfrm>
            <a:off x="7498080" y="3813048"/>
            <a:ext cx="196596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4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16952" y="3995928"/>
            <a:ext cx="274320" cy="274320"/>
          </a:xfrm>
          <a:prstGeom prst="rect">
            <a:avLst/>
          </a:prstGeom>
        </p:spPr>
      </p:pic>
      <p:sp>
        <p:nvSpPr>
          <p:cNvPr id="44" name="Text 39"/>
          <p:cNvSpPr txBox="1"/>
          <p:nvPr/>
        </p:nvSpPr>
        <p:spPr>
          <a:xfrm>
            <a:off x="7982712" y="387705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Layout AST</a:t>
            </a:r>
            <a:endParaRPr lang="en-US" sz="1100" dirty="0"/>
          </a:p>
        </p:txBody>
      </p:sp>
      <p:sp>
        <p:nvSpPr>
          <p:cNvPr id="45" name="Text 40"/>
          <p:cNvSpPr txBox="1"/>
          <p:nvPr/>
        </p:nvSpPr>
        <p:spPr>
          <a:xfrm>
            <a:off x="7982712" y="414223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tree distance 0.20</a:t>
            </a:r>
            <a:endParaRPr lang="en-US" sz="950" dirty="0"/>
          </a:p>
        </p:txBody>
      </p:sp>
      <p:sp>
        <p:nvSpPr>
          <p:cNvPr id="46" name="Shape 41"/>
          <p:cNvSpPr/>
          <p:nvPr/>
        </p:nvSpPr>
        <p:spPr>
          <a:xfrm>
            <a:off x="9555480" y="3813048"/>
            <a:ext cx="196596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4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74352" y="3995928"/>
            <a:ext cx="274320" cy="274320"/>
          </a:xfrm>
          <a:prstGeom prst="rect">
            <a:avLst/>
          </a:prstGeom>
        </p:spPr>
      </p:pic>
      <p:sp>
        <p:nvSpPr>
          <p:cNvPr id="48" name="Text 42"/>
          <p:cNvSpPr txBox="1"/>
          <p:nvPr/>
        </p:nvSpPr>
        <p:spPr>
          <a:xfrm>
            <a:off x="10040112" y="387705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CIEDE2000 colour</a:t>
            </a:r>
            <a:endParaRPr lang="en-US" sz="1100" dirty="0"/>
          </a:p>
        </p:txBody>
      </p:sp>
      <p:sp>
        <p:nvSpPr>
          <p:cNvPr id="49" name="Text 43"/>
          <p:cNvSpPr txBox="1"/>
          <p:nvPr/>
        </p:nvSpPr>
        <p:spPr>
          <a:xfrm>
            <a:off x="10040112" y="414223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per-swatch ΔE</a:t>
            </a:r>
            <a:endParaRPr lang="en-US" sz="950" dirty="0"/>
          </a:p>
        </p:txBody>
      </p:sp>
      <p:sp>
        <p:nvSpPr>
          <p:cNvPr id="50" name="Shape 44"/>
          <p:cNvSpPr/>
          <p:nvPr/>
        </p:nvSpPr>
        <p:spPr>
          <a:xfrm>
            <a:off x="7498080" y="4562856"/>
            <a:ext cx="196596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5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16952" y="4745736"/>
            <a:ext cx="274320" cy="274320"/>
          </a:xfrm>
          <a:prstGeom prst="rect">
            <a:avLst/>
          </a:prstGeom>
        </p:spPr>
      </p:pic>
      <p:sp>
        <p:nvSpPr>
          <p:cNvPr id="52" name="Text 45"/>
          <p:cNvSpPr txBox="1"/>
          <p:nvPr/>
        </p:nvSpPr>
        <p:spPr>
          <a:xfrm>
            <a:off x="7982712" y="462686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Fuzzy strings</a:t>
            </a:r>
            <a:endParaRPr lang="en-US" sz="1100" dirty="0"/>
          </a:p>
        </p:txBody>
      </p:sp>
      <p:sp>
        <p:nvSpPr>
          <p:cNvPr id="53" name="Text 46"/>
          <p:cNvSpPr txBox="1"/>
          <p:nvPr/>
        </p:nvSpPr>
        <p:spPr>
          <a:xfrm>
            <a:off x="7982712" y="489204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RapidFuzz 82.0</a:t>
            </a:r>
            <a:endParaRPr lang="en-US" sz="950" dirty="0"/>
          </a:p>
        </p:txBody>
      </p:sp>
      <p:sp>
        <p:nvSpPr>
          <p:cNvPr id="54" name="Shape 47"/>
          <p:cNvSpPr/>
          <p:nvPr/>
        </p:nvSpPr>
        <p:spPr>
          <a:xfrm>
            <a:off x="9555480" y="4562856"/>
            <a:ext cx="196596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5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74352" y="4745736"/>
            <a:ext cx="274320" cy="274320"/>
          </a:xfrm>
          <a:prstGeom prst="rect">
            <a:avLst/>
          </a:prstGeom>
        </p:spPr>
      </p:pic>
      <p:sp>
        <p:nvSpPr>
          <p:cNvPr id="56" name="Text 48"/>
          <p:cNvSpPr txBox="1"/>
          <p:nvPr/>
        </p:nvSpPr>
        <p:spPr>
          <a:xfrm>
            <a:off x="10040112" y="462686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Signer registry</a:t>
            </a:r>
            <a:endParaRPr lang="en-US" sz="1100" dirty="0"/>
          </a:p>
        </p:txBody>
      </p:sp>
      <p:sp>
        <p:nvSpPr>
          <p:cNvPr id="57" name="Text 49"/>
          <p:cNvSpPr txBox="1"/>
          <p:nvPr/>
        </p:nvSpPr>
        <p:spPr>
          <a:xfrm>
            <a:off x="10040112" y="489204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fail-closed</a:t>
            </a:r>
            <a:endParaRPr lang="en-US" sz="950" dirty="0"/>
          </a:p>
        </p:txBody>
      </p:sp>
      <p:sp>
        <p:nvSpPr>
          <p:cNvPr id="58" name="Shape 50"/>
          <p:cNvSpPr/>
          <p:nvPr/>
        </p:nvSpPr>
        <p:spPr>
          <a:xfrm>
            <a:off x="640080" y="5532120"/>
            <a:ext cx="10911535" cy="566928"/>
          </a:xfrm>
          <a:prstGeom prst="roundRect">
            <a:avLst>
              <a:gd name="adj" fmla="val 12903"/>
            </a:avLst>
          </a:prstGeom>
          <a:solidFill>
            <a:srgbClr val="EFF6FF"/>
          </a:solidFill>
          <a:ln w="9525">
            <a:solidFill>
              <a:srgbClr val="BFDBFE"/>
            </a:solidFill>
            <a:prstDash val="solid"/>
          </a:ln>
        </p:spPr>
      </p:sp>
      <p:pic>
        <p:nvPicPr>
          <p:cNvPr id="59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2960" y="5669280"/>
            <a:ext cx="292608" cy="292608"/>
          </a:xfrm>
          <a:prstGeom prst="rect">
            <a:avLst/>
          </a:prstGeom>
        </p:spPr>
      </p:pic>
      <p:sp>
        <p:nvSpPr>
          <p:cNvPr id="60" name="Text 51"/>
          <p:cNvSpPr txBox="1"/>
          <p:nvPr/>
        </p:nvSpPr>
        <p:spPr>
          <a:xfrm>
            <a:off x="1234440" y="5532120"/>
            <a:ext cx="101800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CH27 fraud triad   </a:t>
            </a:r>
            <a:r>
              <a:rPr lang="en-US" sz="12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clone confidence &gt; 0.85  +  signer mismatch  +  accessibility service   </a:t>
            </a:r>
            <a:r>
              <a:rPr lang="en-US" sz="125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 FRS ≥ 95, Critical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kern="0" spc="200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DYNAMIC ANALYSIS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31520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Observe what the APK actually does.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98448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Static indicators become actionable when runtime behaviour confirms them.</a:t>
            </a:r>
            <a:endParaRPr lang="en-US" sz="1400" dirty="0"/>
          </a:p>
        </p:txBody>
      </p:sp>
      <p:pic>
        <p:nvPicPr>
          <p:cNvPr id="5" name="Image 0" descr="D:/Projects/Sudarshan BOI/frontend/logo/SUDARSHAN_LOGO_COLOU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6455664"/>
            <a:ext cx="182880" cy="1828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96112" y="64465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kern="0" spc="1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SUDARSHAN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0424160" y="6446520"/>
            <a:ext cx="11274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</a:t>
            </a: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/  15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640080" y="1874520"/>
            <a:ext cx="6812280" cy="4297680"/>
          </a:xfrm>
          <a:prstGeom prst="roundRect">
            <a:avLst>
              <a:gd name="adj" fmla="val 2553"/>
            </a:avLst>
          </a:prstGeom>
          <a:solidFill>
            <a:srgbClr val="F8FAFC"/>
          </a:solidFill>
          <a:ln w="15875">
            <a:solidFill>
              <a:srgbClr val="DC2626"/>
            </a:solidFill>
            <a:prstDash val="dash"/>
          </a:ln>
        </p:spPr>
      </p:sp>
      <p:sp>
        <p:nvSpPr>
          <p:cNvPr id="9" name="Shape 6"/>
          <p:cNvSpPr/>
          <p:nvPr/>
        </p:nvSpPr>
        <p:spPr>
          <a:xfrm>
            <a:off x="868680" y="1737360"/>
            <a:ext cx="2834640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914400" y="173736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b="1" kern="0" spc="150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ISOLATED SANDBOX</a:t>
            </a: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fails closed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1005840" y="2286000"/>
            <a:ext cx="1828800" cy="2697480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25400">
            <a:solidFill>
              <a:srgbClr val="0F172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691640" y="2395728"/>
            <a:ext cx="457200" cy="54864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005840" y="25603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b="1" kern="0" spc="12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ANDROID GUEST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1188720" y="2880360"/>
            <a:ext cx="1463040" cy="1234440"/>
          </a:xfrm>
          <a:prstGeom prst="roundRect">
            <a:avLst>
              <a:gd name="adj" fmla="val 5926"/>
            </a:avLst>
          </a:prstGeom>
          <a:solidFill>
            <a:srgbClr val="0F172A"/>
          </a:solidFill>
          <a:ln/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7360" y="3017520"/>
            <a:ext cx="365760" cy="36576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1188720" y="34747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Sample under test</a:t>
            </a:r>
            <a:endParaRPr lang="en-US" sz="1100" dirty="0"/>
          </a:p>
        </p:txBody>
      </p:sp>
      <p:sp>
        <p:nvSpPr>
          <p:cNvPr id="17" name="Text 13"/>
          <p:cNvSpPr txBox="1"/>
          <p:nvPr/>
        </p:nvSpPr>
        <p:spPr>
          <a:xfrm>
            <a:off x="1097280" y="42519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AVD · Genymotion · device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1920240" y="4983480"/>
            <a:ext cx="0" cy="320040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9" name="Shape 15"/>
          <p:cNvSpPr/>
          <p:nvPr/>
        </p:nvSpPr>
        <p:spPr>
          <a:xfrm>
            <a:off x="1005840" y="5303520"/>
            <a:ext cx="18288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5440680"/>
            <a:ext cx="274320" cy="274320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1463040" y="530352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mitmproxy</a:t>
            </a:r>
            <a:endParaRPr lang="en-US" sz="10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HAR capture</a:t>
            </a:r>
            <a:endParaRPr lang="en-US" sz="1050" dirty="0"/>
          </a:p>
        </p:txBody>
      </p:sp>
      <p:sp>
        <p:nvSpPr>
          <p:cNvPr id="22" name="Text 17"/>
          <p:cNvSpPr txBox="1"/>
          <p:nvPr/>
        </p:nvSpPr>
        <p:spPr>
          <a:xfrm>
            <a:off x="3337560" y="21488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kern="0" spc="120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FRIDA 17 MONITORS</a:t>
            </a:r>
            <a:endParaRPr lang="en-US" sz="950" dirty="0"/>
          </a:p>
        </p:txBody>
      </p:sp>
      <p:sp>
        <p:nvSpPr>
          <p:cNvPr id="23" name="Shape 18"/>
          <p:cNvSpPr/>
          <p:nvPr/>
        </p:nvSpPr>
        <p:spPr>
          <a:xfrm>
            <a:off x="2834640" y="2670048"/>
            <a:ext cx="502920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3337560" y="2487168"/>
            <a:ext cx="1691640" cy="365760"/>
          </a:xfrm>
          <a:prstGeom prst="roundRect">
            <a:avLst>
              <a:gd name="adj" fmla="val 15000"/>
            </a:avLst>
          </a:prstGeom>
          <a:solidFill>
            <a:srgbClr val="EFF6FF"/>
          </a:solidFill>
          <a:ln w="9525">
            <a:solidFill>
              <a:srgbClr val="BFDBFE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3337560" y="248716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Accessibility</a:t>
            </a:r>
            <a:endParaRPr lang="en-US" sz="1050" dirty="0"/>
          </a:p>
        </p:txBody>
      </p:sp>
      <p:sp>
        <p:nvSpPr>
          <p:cNvPr id="26" name="Shape 21"/>
          <p:cNvSpPr/>
          <p:nvPr/>
        </p:nvSpPr>
        <p:spPr>
          <a:xfrm>
            <a:off x="2834640" y="3145536"/>
            <a:ext cx="502920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3337560" y="2962656"/>
            <a:ext cx="1691640" cy="365760"/>
          </a:xfrm>
          <a:prstGeom prst="roundRect">
            <a:avLst>
              <a:gd name="adj" fmla="val 15000"/>
            </a:avLst>
          </a:prstGeom>
          <a:solidFill>
            <a:srgbClr val="EFF6FF"/>
          </a:solidFill>
          <a:ln w="9525">
            <a:solidFill>
              <a:srgbClr val="BFDBFE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3337560" y="2962656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SMS</a:t>
            </a:r>
            <a:endParaRPr lang="en-US" sz="1050" dirty="0"/>
          </a:p>
        </p:txBody>
      </p:sp>
      <p:sp>
        <p:nvSpPr>
          <p:cNvPr id="29" name="Shape 24"/>
          <p:cNvSpPr/>
          <p:nvPr/>
        </p:nvSpPr>
        <p:spPr>
          <a:xfrm>
            <a:off x="2834640" y="3621024"/>
            <a:ext cx="502920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3337560" y="3438144"/>
            <a:ext cx="1691640" cy="365760"/>
          </a:xfrm>
          <a:prstGeom prst="roundRect">
            <a:avLst>
              <a:gd name="adj" fmla="val 15000"/>
            </a:avLst>
          </a:prstGeom>
          <a:solidFill>
            <a:srgbClr val="EFF6FF"/>
          </a:solidFill>
          <a:ln w="9525">
            <a:solidFill>
              <a:srgbClr val="BFDBFE"/>
            </a:solidFill>
            <a:prstDash val="solid"/>
          </a:ln>
        </p:spPr>
      </p:sp>
      <p:sp>
        <p:nvSpPr>
          <p:cNvPr id="31" name="Text 26"/>
          <p:cNvSpPr txBox="1"/>
          <p:nvPr/>
        </p:nvSpPr>
        <p:spPr>
          <a:xfrm>
            <a:off x="3337560" y="3438144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Overlay</a:t>
            </a:r>
            <a:endParaRPr lang="en-US" sz="1050" dirty="0"/>
          </a:p>
        </p:txBody>
      </p:sp>
      <p:sp>
        <p:nvSpPr>
          <p:cNvPr id="32" name="Shape 27"/>
          <p:cNvSpPr/>
          <p:nvPr/>
        </p:nvSpPr>
        <p:spPr>
          <a:xfrm>
            <a:off x="2834640" y="4096512"/>
            <a:ext cx="502920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3337560" y="3913632"/>
            <a:ext cx="1691640" cy="365760"/>
          </a:xfrm>
          <a:prstGeom prst="roundRect">
            <a:avLst>
              <a:gd name="adj" fmla="val 15000"/>
            </a:avLst>
          </a:prstGeom>
          <a:solidFill>
            <a:srgbClr val="EFF6FF"/>
          </a:solidFill>
          <a:ln w="9525">
            <a:solidFill>
              <a:srgbClr val="BFDBFE"/>
            </a:solidFill>
            <a:prstDash val="solid"/>
          </a:ln>
        </p:spPr>
      </p:sp>
      <p:sp>
        <p:nvSpPr>
          <p:cNvPr id="34" name="Text 29"/>
          <p:cNvSpPr txBox="1"/>
          <p:nvPr/>
        </p:nvSpPr>
        <p:spPr>
          <a:xfrm>
            <a:off x="3337560" y="391363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 loading</a:t>
            </a:r>
            <a:endParaRPr lang="en-US" sz="1050" dirty="0"/>
          </a:p>
        </p:txBody>
      </p:sp>
      <p:sp>
        <p:nvSpPr>
          <p:cNvPr id="35" name="Shape 30"/>
          <p:cNvSpPr/>
          <p:nvPr/>
        </p:nvSpPr>
        <p:spPr>
          <a:xfrm>
            <a:off x="2834640" y="4572000"/>
            <a:ext cx="502920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36" name="Shape 31"/>
          <p:cNvSpPr/>
          <p:nvPr/>
        </p:nvSpPr>
        <p:spPr>
          <a:xfrm>
            <a:off x="3337560" y="4389120"/>
            <a:ext cx="1691640" cy="365760"/>
          </a:xfrm>
          <a:prstGeom prst="roundRect">
            <a:avLst>
              <a:gd name="adj" fmla="val 15000"/>
            </a:avLst>
          </a:prstGeom>
          <a:solidFill>
            <a:srgbClr val="EFF6FF"/>
          </a:solidFill>
          <a:ln w="9525">
            <a:solidFill>
              <a:srgbClr val="BFDBFE"/>
            </a:solidFill>
            <a:prstDash val="solid"/>
          </a:ln>
        </p:spPr>
      </p:sp>
      <p:sp>
        <p:nvSpPr>
          <p:cNvPr id="37" name="Text 32"/>
          <p:cNvSpPr txBox="1"/>
          <p:nvPr/>
        </p:nvSpPr>
        <p:spPr>
          <a:xfrm>
            <a:off x="3337560" y="43891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Network</a:t>
            </a:r>
            <a:endParaRPr lang="en-US" sz="1050" dirty="0"/>
          </a:p>
        </p:txBody>
      </p:sp>
      <p:sp>
        <p:nvSpPr>
          <p:cNvPr id="38" name="Shape 33"/>
          <p:cNvSpPr/>
          <p:nvPr/>
        </p:nvSpPr>
        <p:spPr>
          <a:xfrm>
            <a:off x="2834640" y="5047488"/>
            <a:ext cx="502920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39" name="Shape 34"/>
          <p:cNvSpPr/>
          <p:nvPr/>
        </p:nvSpPr>
        <p:spPr>
          <a:xfrm>
            <a:off x="3337560" y="4864608"/>
            <a:ext cx="1691640" cy="365760"/>
          </a:xfrm>
          <a:prstGeom prst="roundRect">
            <a:avLst>
              <a:gd name="adj" fmla="val 15000"/>
            </a:avLst>
          </a:prstGeom>
          <a:solidFill>
            <a:srgbClr val="EFF6FF"/>
          </a:solidFill>
          <a:ln w="9525">
            <a:solidFill>
              <a:srgbClr val="BFDBFE"/>
            </a:solidFill>
            <a:prstDash val="solid"/>
          </a:ln>
        </p:spPr>
      </p:sp>
      <p:sp>
        <p:nvSpPr>
          <p:cNvPr id="40" name="Text 35"/>
          <p:cNvSpPr txBox="1"/>
          <p:nvPr/>
        </p:nvSpPr>
        <p:spPr>
          <a:xfrm>
            <a:off x="3337560" y="486460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Persistence</a:t>
            </a:r>
            <a:endParaRPr lang="en-US" sz="1050" dirty="0"/>
          </a:p>
        </p:txBody>
      </p:sp>
      <p:sp>
        <p:nvSpPr>
          <p:cNvPr id="41" name="Shape 36"/>
          <p:cNvSpPr/>
          <p:nvPr/>
        </p:nvSpPr>
        <p:spPr>
          <a:xfrm>
            <a:off x="5074920" y="3776472"/>
            <a:ext cx="365760" cy="0"/>
          </a:xfrm>
          <a:prstGeom prst="line">
            <a:avLst/>
          </a:prstGeom>
          <a:noFill/>
          <a:ln w="22225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42" name="Shape 37"/>
          <p:cNvSpPr/>
          <p:nvPr/>
        </p:nvSpPr>
        <p:spPr>
          <a:xfrm>
            <a:off x="5440680" y="2834640"/>
            <a:ext cx="1783080" cy="1874520"/>
          </a:xfrm>
          <a:prstGeom prst="roundRect">
            <a:avLst>
              <a:gd name="adj" fmla="val 5128"/>
            </a:avLst>
          </a:prstGeom>
          <a:solidFill>
            <a:srgbClr val="2563EB"/>
          </a:solidFill>
          <a:ln/>
        </p:spPr>
      </p:sp>
      <p:pic>
        <p:nvPicPr>
          <p:cNvPr id="4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44768" y="3017520"/>
            <a:ext cx="384048" cy="384048"/>
          </a:xfrm>
          <a:prstGeom prst="rect">
            <a:avLst/>
          </a:prstGeom>
        </p:spPr>
      </p:pic>
      <p:sp>
        <p:nvSpPr>
          <p:cNvPr id="44" name="Text 38"/>
          <p:cNvSpPr txBox="1"/>
          <p:nvPr/>
        </p:nvSpPr>
        <p:spPr>
          <a:xfrm>
            <a:off x="5440680" y="3474720"/>
            <a:ext cx="1783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RUNTIME</a:t>
            </a:r>
            <a:endParaRPr lang="en-US" sz="12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EVENT BUS</a:t>
            </a:r>
            <a:endParaRPr lang="en-US" sz="12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900" kern="0" spc="100" dirty="0">
                <a:solidFill>
                  <a:srgbClr val="DBEA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typed, with severity</a:t>
            </a:r>
            <a:endParaRPr lang="en-US" sz="1200" dirty="0"/>
          </a:p>
        </p:txBody>
      </p:sp>
      <p:sp>
        <p:nvSpPr>
          <p:cNvPr id="45" name="Text 39"/>
          <p:cNvSpPr txBox="1"/>
          <p:nvPr/>
        </p:nvSpPr>
        <p:spPr>
          <a:xfrm>
            <a:off x="5440680" y="48006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evidence store</a:t>
            </a:r>
            <a:endParaRPr lang="en-US" sz="1000" dirty="0"/>
          </a:p>
        </p:txBody>
      </p:sp>
      <p:sp>
        <p:nvSpPr>
          <p:cNvPr id="46" name="Text 40"/>
          <p:cNvSpPr txBox="1"/>
          <p:nvPr/>
        </p:nvSpPr>
        <p:spPr>
          <a:xfrm>
            <a:off x="7818120" y="187452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b="1" kern="0" spc="150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RELIABLE OBSERVATION</a:t>
            </a:r>
            <a:endParaRPr lang="en-US" sz="1000" dirty="0"/>
          </a:p>
        </p:txBody>
      </p:sp>
      <p:sp>
        <p:nvSpPr>
          <p:cNvPr id="47" name="Shape 41"/>
          <p:cNvSpPr/>
          <p:nvPr/>
        </p:nvSpPr>
        <p:spPr>
          <a:xfrm>
            <a:off x="7827264" y="2322576"/>
            <a:ext cx="530352" cy="530352"/>
          </a:xfrm>
          <a:prstGeom prst="ellipse">
            <a:avLst/>
          </a:prstGeom>
          <a:solidFill>
            <a:srgbClr val="EFF6FF"/>
          </a:solidFill>
          <a:ln/>
        </p:spPr>
      </p:sp>
      <p:pic>
        <p:nvPicPr>
          <p:cNvPr id="4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59852" y="2455164"/>
            <a:ext cx="265176" cy="265176"/>
          </a:xfrm>
          <a:prstGeom prst="rect">
            <a:avLst/>
          </a:prstGeom>
        </p:spPr>
      </p:pic>
      <p:sp>
        <p:nvSpPr>
          <p:cNvPr id="49" name="Text 42"/>
          <p:cNvSpPr txBox="1"/>
          <p:nvPr/>
        </p:nvSpPr>
        <p:spPr>
          <a:xfrm>
            <a:off x="8503920" y="2286000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Exact-PID attach</a:t>
            </a:r>
            <a:endParaRPr lang="en-US" sz="1300" dirty="0"/>
          </a:p>
        </p:txBody>
      </p:sp>
      <p:sp>
        <p:nvSpPr>
          <p:cNvPr id="50" name="Text 43"/>
          <p:cNvSpPr txBox="1"/>
          <p:nvPr/>
        </p:nvSpPr>
        <p:spPr>
          <a:xfrm>
            <a:off x="8503920" y="2587752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Waits for a stable process before monitoring.</a:t>
            </a:r>
            <a:endParaRPr lang="en-US" sz="1050" dirty="0"/>
          </a:p>
        </p:txBody>
      </p:sp>
      <p:sp>
        <p:nvSpPr>
          <p:cNvPr id="51" name="Shape 44"/>
          <p:cNvSpPr/>
          <p:nvPr/>
        </p:nvSpPr>
        <p:spPr>
          <a:xfrm>
            <a:off x="7827264" y="3300984"/>
            <a:ext cx="530352" cy="530352"/>
          </a:xfrm>
          <a:prstGeom prst="ellipse">
            <a:avLst/>
          </a:prstGeom>
          <a:solidFill>
            <a:srgbClr val="EFF6FF"/>
          </a:solidFill>
          <a:ln/>
        </p:spPr>
      </p:sp>
      <p:pic>
        <p:nvPicPr>
          <p:cNvPr id="5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59852" y="3433572"/>
            <a:ext cx="265176" cy="265176"/>
          </a:xfrm>
          <a:prstGeom prst="rect">
            <a:avLst/>
          </a:prstGeom>
        </p:spPr>
      </p:pic>
      <p:sp>
        <p:nvSpPr>
          <p:cNvPr id="53" name="Text 45"/>
          <p:cNvSpPr txBox="1"/>
          <p:nvPr/>
        </p:nvSpPr>
        <p:spPr>
          <a:xfrm>
            <a:off x="8503920" y="3264408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ART deoptimisation gate</a:t>
            </a:r>
            <a:endParaRPr lang="en-US" sz="1300" dirty="0"/>
          </a:p>
        </p:txBody>
      </p:sp>
      <p:sp>
        <p:nvSpPr>
          <p:cNvPr id="54" name="Text 46"/>
          <p:cNvSpPr txBox="1"/>
          <p:nvPr/>
        </p:nvSpPr>
        <p:spPr>
          <a:xfrm>
            <a:off x="8503920" y="356616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Compiled methods route through monitored paths.</a:t>
            </a:r>
            <a:endParaRPr lang="en-US" sz="1050" dirty="0"/>
          </a:p>
        </p:txBody>
      </p:sp>
      <p:sp>
        <p:nvSpPr>
          <p:cNvPr id="55" name="Shape 47"/>
          <p:cNvSpPr/>
          <p:nvPr/>
        </p:nvSpPr>
        <p:spPr>
          <a:xfrm>
            <a:off x="7827264" y="4279392"/>
            <a:ext cx="530352" cy="530352"/>
          </a:xfrm>
          <a:prstGeom prst="ellipse">
            <a:avLst/>
          </a:prstGeom>
          <a:solidFill>
            <a:srgbClr val="EFF6FF"/>
          </a:solidFill>
          <a:ln/>
        </p:spPr>
      </p:sp>
      <p:pic>
        <p:nvPicPr>
          <p:cNvPr id="5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59852" y="4411980"/>
            <a:ext cx="265176" cy="265176"/>
          </a:xfrm>
          <a:prstGeom prst="rect">
            <a:avLst/>
          </a:prstGeom>
        </p:spPr>
      </p:pic>
      <p:sp>
        <p:nvSpPr>
          <p:cNvPr id="57" name="Text 48"/>
          <p:cNvSpPr txBox="1"/>
          <p:nvPr/>
        </p:nvSpPr>
        <p:spPr>
          <a:xfrm>
            <a:off x="8503920" y="4242816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Five-step launch ladder</a:t>
            </a:r>
            <a:endParaRPr lang="en-US" sz="1300" dirty="0"/>
          </a:p>
        </p:txBody>
      </p:sp>
      <p:sp>
        <p:nvSpPr>
          <p:cNvPr id="58" name="Text 49"/>
          <p:cNvSpPr txBox="1"/>
          <p:nvPr/>
        </p:nvSpPr>
        <p:spPr>
          <a:xfrm>
            <a:off x="8503920" y="4544568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Records which launch method succeeded.</a:t>
            </a:r>
            <a:endParaRPr lang="en-US" sz="1050" dirty="0"/>
          </a:p>
        </p:txBody>
      </p:sp>
      <p:sp>
        <p:nvSpPr>
          <p:cNvPr id="59" name="Shape 50"/>
          <p:cNvSpPr/>
          <p:nvPr/>
        </p:nvSpPr>
        <p:spPr>
          <a:xfrm>
            <a:off x="7827264" y="5257800"/>
            <a:ext cx="530352" cy="530352"/>
          </a:xfrm>
          <a:prstGeom prst="ellipse">
            <a:avLst/>
          </a:prstGeom>
          <a:solidFill>
            <a:srgbClr val="EFF6FF"/>
          </a:solidFill>
          <a:ln/>
        </p:spPr>
      </p:sp>
      <p:pic>
        <p:nvPicPr>
          <p:cNvPr id="60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59852" y="5390388"/>
            <a:ext cx="265176" cy="265176"/>
          </a:xfrm>
          <a:prstGeom prst="rect">
            <a:avLst/>
          </a:prstGeom>
        </p:spPr>
      </p:pic>
      <p:sp>
        <p:nvSpPr>
          <p:cNvPr id="61" name="Text 51"/>
          <p:cNvSpPr txBox="1"/>
          <p:nvPr/>
        </p:nvSpPr>
        <p:spPr>
          <a:xfrm>
            <a:off x="8503920" y="5221224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Honest outcomes</a:t>
            </a:r>
            <a:endParaRPr lang="en-US" sz="1300" dirty="0"/>
          </a:p>
        </p:txBody>
      </p:sp>
      <p:sp>
        <p:nvSpPr>
          <p:cNvPr id="62" name="Text 52"/>
          <p:cNvSpPr txBox="1"/>
          <p:nvPr/>
        </p:nvSpPr>
        <p:spPr>
          <a:xfrm>
            <a:off x="8503920" y="5522976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empty run is reported as inconclusive, not safe.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kern="0" spc="200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AGENTIC DEEP EXPLORATION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31520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Walk through the app like a real user.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98448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Fraud logic sits behind login, OTP and permission screens. A fixed timer never reaches it.</a:t>
            </a:r>
            <a:endParaRPr lang="en-US" sz="1400" dirty="0"/>
          </a:p>
        </p:txBody>
      </p:sp>
      <p:pic>
        <p:nvPicPr>
          <p:cNvPr id="5" name="Image 0" descr="D:/Projects/Sudarshan BOI/frontend/logo/SUDARSHAN_LOGO_COLOU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6455664"/>
            <a:ext cx="182880" cy="1828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96112" y="64465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kern="0" spc="1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SUDARSHAN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0424160" y="6446520"/>
            <a:ext cx="11274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</a:t>
            </a: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/  15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182880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b="1" kern="0" spc="150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FIVE-LEVEL PERCEPTION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40080" y="2176272"/>
            <a:ext cx="4160520" cy="530352"/>
          </a:xfrm>
          <a:prstGeom prst="roundRect">
            <a:avLst>
              <a:gd name="adj" fmla="val 13793"/>
            </a:avLst>
          </a:prstGeom>
          <a:solidFill>
            <a:srgbClr val="EFF6FF"/>
          </a:solidFill>
          <a:ln w="9525">
            <a:solidFill>
              <a:srgbClr val="BFDBF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49808" y="2267712"/>
            <a:ext cx="347472" cy="34747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49808" y="22677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L1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1234440" y="2176272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UI XML dump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2788920" y="2176272"/>
            <a:ext cx="1965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bounds, IDs, view tree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40080" y="2816352"/>
            <a:ext cx="4160520" cy="530352"/>
          </a:xfrm>
          <a:prstGeom prst="roundRect">
            <a:avLst>
              <a:gd name="adj" fmla="val 13793"/>
            </a:avLst>
          </a:prstGeom>
          <a:solidFill>
            <a:srgbClr val="EFF6FF"/>
          </a:solidFill>
          <a:ln w="9525">
            <a:solidFill>
              <a:srgbClr val="BFDBFE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49808" y="2907792"/>
            <a:ext cx="347472" cy="34747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749808" y="29077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L2</a:t>
            </a:r>
            <a:endParaRPr lang="en-US" sz="950" dirty="0"/>
          </a:p>
        </p:txBody>
      </p:sp>
      <p:sp>
        <p:nvSpPr>
          <p:cNvPr id="17" name="Text 14"/>
          <p:cNvSpPr txBox="1"/>
          <p:nvPr/>
        </p:nvSpPr>
        <p:spPr>
          <a:xfrm>
            <a:off x="1234440" y="2816352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Activity state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2788920" y="2816352"/>
            <a:ext cx="1965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foreground package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40080" y="3456432"/>
            <a:ext cx="4160520" cy="530352"/>
          </a:xfrm>
          <a:prstGeom prst="roundRect">
            <a:avLst>
              <a:gd name="adj" fmla="val 13793"/>
            </a:avLst>
          </a:prstGeom>
          <a:solidFill>
            <a:srgbClr val="EFF6FF"/>
          </a:solidFill>
          <a:ln w="9525">
            <a:solidFill>
              <a:srgbClr val="BFDBFE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49808" y="3547872"/>
            <a:ext cx="347472" cy="34747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749808" y="35478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L3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234440" y="3456432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Frida events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2788920" y="3456432"/>
            <a:ext cx="1965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overlay, accessibility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640080" y="4096512"/>
            <a:ext cx="4160520" cy="530352"/>
          </a:xfrm>
          <a:prstGeom prst="roundRect">
            <a:avLst>
              <a:gd name="adj" fmla="val 13793"/>
            </a:avLst>
          </a:prstGeom>
          <a:solidFill>
            <a:srgbClr val="EFF6FF"/>
          </a:solidFill>
          <a:ln w="9525">
            <a:solidFill>
              <a:srgbClr val="BFDBFE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749808" y="4187952"/>
            <a:ext cx="347472" cy="34747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749808" y="41879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L4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234440" y="4096512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Logcat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2788920" y="4096512"/>
            <a:ext cx="1965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crashes, denials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640080" y="4736592"/>
            <a:ext cx="416052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94A3B8"/>
            </a:solidFill>
            <a:prstDash val="dash"/>
          </a:ln>
        </p:spPr>
      </p:sp>
      <p:sp>
        <p:nvSpPr>
          <p:cNvPr id="30" name="Shape 27"/>
          <p:cNvSpPr/>
          <p:nvPr/>
        </p:nvSpPr>
        <p:spPr>
          <a:xfrm>
            <a:off x="749808" y="4828032"/>
            <a:ext cx="347472" cy="347472"/>
          </a:xfrm>
          <a:prstGeom prst="ellipse">
            <a:avLst/>
          </a:prstGeom>
          <a:solidFill>
            <a:srgbClr val="FFFFFF"/>
          </a:solidFill>
          <a:ln w="9525">
            <a:solidFill>
              <a:srgbClr val="94A3B8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749808" y="48280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L5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234440" y="4736592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Vision fallback</a:t>
            </a:r>
            <a:endParaRPr lang="en-US" sz="1200" dirty="0"/>
          </a:p>
        </p:txBody>
      </p:sp>
      <p:sp>
        <p:nvSpPr>
          <p:cNvPr id="33" name="Text 30"/>
          <p:cNvSpPr txBox="1"/>
          <p:nvPr/>
        </p:nvSpPr>
        <p:spPr>
          <a:xfrm>
            <a:off x="2788920" y="4736592"/>
            <a:ext cx="1965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OCR when UI is canvas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5532120" y="3337560"/>
            <a:ext cx="2011680" cy="731520"/>
          </a:xfrm>
          <a:prstGeom prst="roundRect">
            <a:avLst>
              <a:gd name="adj" fmla="val 12500"/>
            </a:avLst>
          </a:prstGeom>
          <a:solidFill>
            <a:srgbClr val="2563EB"/>
          </a:solidFill>
          <a:ln/>
        </p:spPr>
      </p:sp>
      <p:pic>
        <p:nvPicPr>
          <p:cNvPr id="3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0" y="3557016"/>
            <a:ext cx="292608" cy="292608"/>
          </a:xfrm>
          <a:prstGeom prst="rect">
            <a:avLst/>
          </a:prstGeom>
        </p:spPr>
      </p:pic>
      <p:sp>
        <p:nvSpPr>
          <p:cNvPr id="36" name="Text 32"/>
          <p:cNvSpPr txBox="1"/>
          <p:nvPr/>
        </p:nvSpPr>
        <p:spPr>
          <a:xfrm>
            <a:off x="6062472" y="3410712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b="1" kern="0" spc="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PERCEIVE</a:t>
            </a:r>
            <a:endParaRPr lang="en-US" sz="1150" dirty="0"/>
          </a:p>
        </p:txBody>
      </p:sp>
      <p:sp>
        <p:nvSpPr>
          <p:cNvPr id="37" name="Text 33"/>
          <p:cNvSpPr txBox="1"/>
          <p:nvPr/>
        </p:nvSpPr>
        <p:spPr>
          <a:xfrm>
            <a:off x="6062472" y="370332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DBEA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fuse all five levels</a:t>
            </a:r>
            <a:endParaRPr lang="en-US" sz="950" dirty="0"/>
          </a:p>
        </p:txBody>
      </p:sp>
      <p:sp>
        <p:nvSpPr>
          <p:cNvPr id="38" name="Shape 34"/>
          <p:cNvSpPr/>
          <p:nvPr/>
        </p:nvSpPr>
        <p:spPr>
          <a:xfrm>
            <a:off x="7635240" y="2057400"/>
            <a:ext cx="201168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BFDBFE"/>
            </a:solidFill>
            <a:prstDash val="solid"/>
          </a:ln>
          <a:effectLst>
            <a:outerShdw blurRad="127000" dist="38100" dir="5400000" algn="bl" rotWithShape="0">
              <a:srgbClr val="0F172A">
                <a:alpha val="10000"/>
              </a:srgbClr>
            </a:outerShdw>
          </a:effectLst>
        </p:spPr>
      </p:sp>
      <p:pic>
        <p:nvPicPr>
          <p:cNvPr id="3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0" y="2276856"/>
            <a:ext cx="292608" cy="292608"/>
          </a:xfrm>
          <a:prstGeom prst="rect">
            <a:avLst/>
          </a:prstGeom>
        </p:spPr>
      </p:pic>
      <p:sp>
        <p:nvSpPr>
          <p:cNvPr id="40" name="Text 35"/>
          <p:cNvSpPr txBox="1"/>
          <p:nvPr/>
        </p:nvSpPr>
        <p:spPr>
          <a:xfrm>
            <a:off x="8165592" y="2130552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b="1" kern="0" spc="1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CLASSIFY</a:t>
            </a:r>
            <a:endParaRPr lang="en-US" sz="1150" dirty="0"/>
          </a:p>
        </p:txBody>
      </p:sp>
      <p:sp>
        <p:nvSpPr>
          <p:cNvPr id="41" name="Text 36"/>
          <p:cNvSpPr txBox="1"/>
          <p:nvPr/>
        </p:nvSpPr>
        <p:spPr>
          <a:xfrm>
            <a:off x="8165592" y="242316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 screen types</a:t>
            </a:r>
            <a:endParaRPr lang="en-US" sz="950" dirty="0"/>
          </a:p>
        </p:txBody>
      </p:sp>
      <p:sp>
        <p:nvSpPr>
          <p:cNvPr id="42" name="Shape 37"/>
          <p:cNvSpPr/>
          <p:nvPr/>
        </p:nvSpPr>
        <p:spPr>
          <a:xfrm>
            <a:off x="9555480" y="3337560"/>
            <a:ext cx="201168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BFDBFE"/>
            </a:solidFill>
            <a:prstDash val="solid"/>
          </a:ln>
          <a:effectLst>
            <a:outerShdw blurRad="127000" dist="38100" dir="5400000" algn="bl" rotWithShape="0">
              <a:srgbClr val="0F172A">
                <a:alpha val="10000"/>
              </a:srgbClr>
            </a:outerShdw>
          </a:effectLst>
        </p:spPr>
      </p:sp>
      <p:pic>
        <p:nvPicPr>
          <p:cNvPr id="4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92640" y="3557016"/>
            <a:ext cx="292608" cy="292608"/>
          </a:xfrm>
          <a:prstGeom prst="rect">
            <a:avLst/>
          </a:prstGeom>
        </p:spPr>
      </p:pic>
      <p:sp>
        <p:nvSpPr>
          <p:cNvPr id="44" name="Text 38"/>
          <p:cNvSpPr txBox="1"/>
          <p:nvPr/>
        </p:nvSpPr>
        <p:spPr>
          <a:xfrm>
            <a:off x="10085832" y="3410712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b="1" kern="0" spc="1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 + ACT</a:t>
            </a:r>
            <a:endParaRPr lang="en-US" sz="1150" dirty="0"/>
          </a:p>
        </p:txBody>
      </p:sp>
      <p:sp>
        <p:nvSpPr>
          <p:cNvPr id="45" name="Text 39"/>
          <p:cNvSpPr txBox="1"/>
          <p:nvPr/>
        </p:nvSpPr>
        <p:spPr>
          <a:xfrm>
            <a:off x="10085832" y="370332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15-stage goal graph</a:t>
            </a:r>
            <a:endParaRPr lang="en-US" sz="950" dirty="0"/>
          </a:p>
        </p:txBody>
      </p:sp>
      <p:sp>
        <p:nvSpPr>
          <p:cNvPr id="46" name="Shape 40"/>
          <p:cNvSpPr/>
          <p:nvPr/>
        </p:nvSpPr>
        <p:spPr>
          <a:xfrm>
            <a:off x="7635240" y="4617720"/>
            <a:ext cx="201168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BFDBFE"/>
            </a:solidFill>
            <a:prstDash val="solid"/>
          </a:ln>
          <a:effectLst>
            <a:outerShdw blurRad="127000" dist="38100" dir="5400000" algn="bl" rotWithShape="0">
              <a:srgbClr val="0F172A">
                <a:alpha val="10000"/>
              </a:srgbClr>
            </a:outerShdw>
          </a:effectLst>
        </p:spPr>
      </p:sp>
      <p:pic>
        <p:nvPicPr>
          <p:cNvPr id="4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0" y="4837176"/>
            <a:ext cx="292608" cy="292608"/>
          </a:xfrm>
          <a:prstGeom prst="rect">
            <a:avLst/>
          </a:prstGeom>
        </p:spPr>
      </p:pic>
      <p:sp>
        <p:nvSpPr>
          <p:cNvPr id="48" name="Text 41"/>
          <p:cNvSpPr txBox="1"/>
          <p:nvPr/>
        </p:nvSpPr>
        <p:spPr>
          <a:xfrm>
            <a:off x="8165592" y="4690872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b="1" kern="0" spc="1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VERIFY</a:t>
            </a:r>
            <a:endParaRPr lang="en-US" sz="1150" dirty="0"/>
          </a:p>
        </p:txBody>
      </p:sp>
      <p:sp>
        <p:nvSpPr>
          <p:cNvPr id="49" name="Text 42"/>
          <p:cNvSpPr txBox="1"/>
          <p:nvPr/>
        </p:nvSpPr>
        <p:spPr>
          <a:xfrm>
            <a:off x="8165592" y="498348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before / after diff</a:t>
            </a:r>
            <a:endParaRPr lang="en-US" sz="950" dirty="0"/>
          </a:p>
        </p:txBody>
      </p:sp>
      <p:sp>
        <p:nvSpPr>
          <p:cNvPr id="50" name="Shape 43"/>
          <p:cNvSpPr/>
          <p:nvPr/>
        </p:nvSpPr>
        <p:spPr>
          <a:xfrm>
            <a:off x="4846320" y="3703320"/>
            <a:ext cx="640080" cy="0"/>
          </a:xfrm>
          <a:prstGeom prst="line">
            <a:avLst/>
          </a:prstGeom>
          <a:noFill/>
          <a:ln w="22225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51" name="Shape 44"/>
          <p:cNvSpPr/>
          <p:nvPr/>
        </p:nvSpPr>
        <p:spPr>
          <a:xfrm flipV="1">
            <a:off x="6537960" y="2423160"/>
            <a:ext cx="1097280" cy="91440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52" name="Shape 45"/>
          <p:cNvSpPr/>
          <p:nvPr/>
        </p:nvSpPr>
        <p:spPr>
          <a:xfrm>
            <a:off x="9646920" y="2423160"/>
            <a:ext cx="914400" cy="91440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53" name="Shape 46"/>
          <p:cNvSpPr/>
          <p:nvPr/>
        </p:nvSpPr>
        <p:spPr>
          <a:xfrm flipH="1">
            <a:off x="9646920" y="4069080"/>
            <a:ext cx="914400" cy="91440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54" name="Shape 47"/>
          <p:cNvSpPr/>
          <p:nvPr/>
        </p:nvSpPr>
        <p:spPr>
          <a:xfrm flipH="1" flipV="1">
            <a:off x="6537960" y="4069080"/>
            <a:ext cx="1097280" cy="91440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55" name="Shape 48"/>
          <p:cNvSpPr/>
          <p:nvPr/>
        </p:nvSpPr>
        <p:spPr>
          <a:xfrm>
            <a:off x="8001000" y="3246120"/>
            <a:ext cx="1280160" cy="1280160"/>
          </a:xfrm>
          <a:prstGeom prst="ellipse">
            <a:avLst/>
          </a:prstGeom>
          <a:solidFill>
            <a:srgbClr val="EFF6FF"/>
          </a:solidFill>
          <a:ln w="9525">
            <a:solidFill>
              <a:srgbClr val="BFDBFE"/>
            </a:solidFill>
            <a:prstDash val="solid"/>
          </a:ln>
        </p:spPr>
      </p:sp>
      <p:sp>
        <p:nvSpPr>
          <p:cNvPr id="56" name="Text 49"/>
          <p:cNvSpPr txBox="1"/>
          <p:nvPr/>
        </p:nvSpPr>
        <p:spPr>
          <a:xfrm>
            <a:off x="8001000" y="324612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SCREEN</a:t>
            </a:r>
            <a:endParaRPr lang="en-US" sz="10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GRAPH</a:t>
            </a:r>
            <a:endParaRPr lang="en-US" sz="10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loop detection</a:t>
            </a:r>
            <a:endParaRPr lang="en-US" sz="1000" dirty="0"/>
          </a:p>
        </p:txBody>
      </p:sp>
      <p:sp>
        <p:nvSpPr>
          <p:cNvPr id="57" name="Text 50"/>
          <p:cNvSpPr txBox="1"/>
          <p:nvPr/>
        </p:nvSpPr>
        <p:spPr>
          <a:xfrm>
            <a:off x="640080" y="562356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b="1" kern="0" spc="1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SCREENS IT HANDLES</a:t>
            </a:r>
            <a:endParaRPr lang="en-US" sz="1000" dirty="0"/>
          </a:p>
        </p:txBody>
      </p:sp>
      <p:sp>
        <p:nvSpPr>
          <p:cNvPr id="58" name="Shape 51"/>
          <p:cNvSpPr/>
          <p:nvPr/>
        </p:nvSpPr>
        <p:spPr>
          <a:xfrm>
            <a:off x="2514600" y="5577840"/>
            <a:ext cx="1426464" cy="329184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 w="9525">
            <a:solidFill>
              <a:srgbClr val="BFDBFE"/>
            </a:solidFill>
            <a:prstDash val="solid"/>
          </a:ln>
        </p:spPr>
      </p:sp>
      <p:sp>
        <p:nvSpPr>
          <p:cNvPr id="59" name="Text 52"/>
          <p:cNvSpPr txBox="1"/>
          <p:nvPr/>
        </p:nvSpPr>
        <p:spPr>
          <a:xfrm>
            <a:off x="2514600" y="5577840"/>
            <a:ext cx="1426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BANKING_LOGIN</a:t>
            </a:r>
            <a:endParaRPr lang="en-US" sz="900" dirty="0"/>
          </a:p>
        </p:txBody>
      </p:sp>
      <p:sp>
        <p:nvSpPr>
          <p:cNvPr id="60" name="Shape 53"/>
          <p:cNvSpPr/>
          <p:nvPr/>
        </p:nvSpPr>
        <p:spPr>
          <a:xfrm>
            <a:off x="4032504" y="5577840"/>
            <a:ext cx="1426464" cy="329184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 w="9525">
            <a:solidFill>
              <a:srgbClr val="BFDBFE"/>
            </a:solidFill>
            <a:prstDash val="solid"/>
          </a:ln>
        </p:spPr>
      </p:sp>
      <p:sp>
        <p:nvSpPr>
          <p:cNvPr id="61" name="Text 54"/>
          <p:cNvSpPr txBox="1"/>
          <p:nvPr/>
        </p:nvSpPr>
        <p:spPr>
          <a:xfrm>
            <a:off x="4032504" y="5577840"/>
            <a:ext cx="1426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OTP_ENTRY</a:t>
            </a:r>
            <a:endParaRPr lang="en-US" sz="900" dirty="0"/>
          </a:p>
        </p:txBody>
      </p:sp>
      <p:sp>
        <p:nvSpPr>
          <p:cNvPr id="62" name="Shape 55"/>
          <p:cNvSpPr/>
          <p:nvPr/>
        </p:nvSpPr>
        <p:spPr>
          <a:xfrm>
            <a:off x="5550408" y="5577840"/>
            <a:ext cx="1426464" cy="329184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 w="9525">
            <a:solidFill>
              <a:srgbClr val="BFDBFE"/>
            </a:solidFill>
            <a:prstDash val="solid"/>
          </a:ln>
        </p:spPr>
      </p:sp>
      <p:sp>
        <p:nvSpPr>
          <p:cNvPr id="63" name="Text 56"/>
          <p:cNvSpPr txBox="1"/>
          <p:nvPr/>
        </p:nvSpPr>
        <p:spPr>
          <a:xfrm>
            <a:off x="5550408" y="5577840"/>
            <a:ext cx="1426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PERMISSION_REQUEST</a:t>
            </a:r>
            <a:endParaRPr lang="en-US" sz="900" dirty="0"/>
          </a:p>
        </p:txBody>
      </p:sp>
      <p:sp>
        <p:nvSpPr>
          <p:cNvPr id="64" name="Shape 57"/>
          <p:cNvSpPr/>
          <p:nvPr/>
        </p:nvSpPr>
        <p:spPr>
          <a:xfrm>
            <a:off x="7068312" y="5577840"/>
            <a:ext cx="1426464" cy="329184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 w="9525">
            <a:solidFill>
              <a:srgbClr val="BFDBFE"/>
            </a:solidFill>
            <a:prstDash val="solid"/>
          </a:ln>
        </p:spPr>
      </p:sp>
      <p:sp>
        <p:nvSpPr>
          <p:cNvPr id="65" name="Text 58"/>
          <p:cNvSpPr txBox="1"/>
          <p:nvPr/>
        </p:nvSpPr>
        <p:spPr>
          <a:xfrm>
            <a:off x="7068312" y="5577840"/>
            <a:ext cx="1426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KYC_UPDATE</a:t>
            </a:r>
            <a:endParaRPr lang="en-US" sz="900" dirty="0"/>
          </a:p>
        </p:txBody>
      </p:sp>
      <p:sp>
        <p:nvSpPr>
          <p:cNvPr id="66" name="Shape 59"/>
          <p:cNvSpPr/>
          <p:nvPr/>
        </p:nvSpPr>
        <p:spPr>
          <a:xfrm>
            <a:off x="8586216" y="5577840"/>
            <a:ext cx="1426464" cy="329184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 w="9525">
            <a:solidFill>
              <a:srgbClr val="BFDBFE"/>
            </a:solidFill>
            <a:prstDash val="solid"/>
          </a:ln>
        </p:spPr>
      </p:sp>
      <p:sp>
        <p:nvSpPr>
          <p:cNvPr id="67" name="Text 60"/>
          <p:cNvSpPr txBox="1"/>
          <p:nvPr/>
        </p:nvSpPr>
        <p:spPr>
          <a:xfrm>
            <a:off x="8586216" y="5577840"/>
            <a:ext cx="1426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DEVICE_ADMIN</a:t>
            </a:r>
            <a:endParaRPr lang="en-US" sz="900" dirty="0"/>
          </a:p>
        </p:txBody>
      </p:sp>
      <p:sp>
        <p:nvSpPr>
          <p:cNvPr id="68" name="Shape 61"/>
          <p:cNvSpPr/>
          <p:nvPr/>
        </p:nvSpPr>
        <p:spPr>
          <a:xfrm>
            <a:off x="10104120" y="5577840"/>
            <a:ext cx="1426464" cy="329184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 w="9525">
            <a:solidFill>
              <a:srgbClr val="BFDBFE"/>
            </a:solidFill>
            <a:prstDash val="solid"/>
          </a:ln>
        </p:spPr>
      </p:sp>
      <p:sp>
        <p:nvSpPr>
          <p:cNvPr id="69" name="Text 62"/>
          <p:cNvSpPr txBox="1"/>
          <p:nvPr/>
        </p:nvSpPr>
        <p:spPr>
          <a:xfrm>
            <a:off x="10104120" y="5577840"/>
            <a:ext cx="1426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UPDATE_PROMPT</a:t>
            </a:r>
            <a:endParaRPr lang="en-US" sz="900" dirty="0"/>
          </a:p>
        </p:txBody>
      </p:sp>
      <p:sp>
        <p:nvSpPr>
          <p:cNvPr id="70" name="Text 63"/>
          <p:cNvSpPr txBox="1"/>
          <p:nvPr/>
        </p:nvSpPr>
        <p:spPr>
          <a:xfrm>
            <a:off x="2514600" y="5961888"/>
            <a:ext cx="9052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Forms are filled from a synthetic victim profile, never real customer data.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kern="0" spc="200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WORKFLOW RECONSTRUCTION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31520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scattered events to a fraud workflow.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98448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Rules link events by type and time into causal stages, each tied to its evidence records.</a:t>
            </a:r>
            <a:endParaRPr lang="en-US" sz="1400" dirty="0"/>
          </a:p>
        </p:txBody>
      </p:sp>
      <p:pic>
        <p:nvPicPr>
          <p:cNvPr id="5" name="Image 0" descr="D:/Projects/Sudarshan BOI/frontend/logo/SUDARSHAN_LOGO_COLOU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6455664"/>
            <a:ext cx="182880" cy="1828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96112" y="64465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kern="0" spc="1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SUDARSHAN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0424160" y="6446520"/>
            <a:ext cx="11274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09</a:t>
            </a: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/  15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640080" y="1874520"/>
            <a:ext cx="3429000" cy="3611880"/>
          </a:xfrm>
          <a:prstGeom prst="roundRect">
            <a:avLst>
              <a:gd name="adj" fmla="val 2667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22960" y="199339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b="1" kern="0" spc="1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OBSERVED EVENT TYPES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2331720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AccessibilityService connected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2706624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AccessibilityEvent received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3081528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WindowManager.addView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822960" y="3456432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SMS_RECEIVED broadcast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822960" y="3831336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SmsManager.sendTextMessage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822960" y="4206240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OkHttpClient request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822960" y="4581144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Socket.connect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822960" y="4956048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DexClassLoader init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160520" y="2926080"/>
            <a:ext cx="45720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4663440" y="2194560"/>
            <a:ext cx="1481328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BFDBFE"/>
            </a:solidFill>
            <a:prstDash val="solid"/>
          </a:ln>
          <a:effectLst>
            <a:outerShdw blurRad="127000" dist="38100" dir="5400000" algn="bl" rotWithShape="0">
              <a:srgbClr val="0F172A">
                <a:alpha val="10000"/>
              </a:srgbClr>
            </a:outerShdw>
          </a:effectLst>
        </p:spPr>
      </p:sp>
      <p:sp>
        <p:nvSpPr>
          <p:cNvPr id="20" name="Text 17"/>
          <p:cNvSpPr txBox="1"/>
          <p:nvPr/>
        </p:nvSpPr>
        <p:spPr>
          <a:xfrm>
            <a:off x="4791456" y="230428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kern="0" spc="120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STAGE 1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4791456" y="2560320"/>
            <a:ext cx="12618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Accessibility Service Activation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791456" y="3273552"/>
            <a:ext cx="731520" cy="256032"/>
          </a:xfrm>
          <a:prstGeom prst="roundRect">
            <a:avLst>
              <a:gd name="adj" fmla="val 21429"/>
            </a:avLst>
          </a:prstGeom>
          <a:solidFill>
            <a:srgbClr val="EFF6FF"/>
          </a:solidFill>
          <a:ln w="9525">
            <a:solidFill>
              <a:srgbClr val="BFDBFE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791456" y="327355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T1417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6163056" y="2926080"/>
            <a:ext cx="219456" cy="0"/>
          </a:xfrm>
          <a:prstGeom prst="line">
            <a:avLst/>
          </a:prstGeom>
          <a:noFill/>
          <a:ln w="22225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25" name="Shape 22"/>
          <p:cNvSpPr/>
          <p:nvPr/>
        </p:nvSpPr>
        <p:spPr>
          <a:xfrm>
            <a:off x="6400800" y="2194560"/>
            <a:ext cx="1481328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BFDBFE"/>
            </a:solidFill>
            <a:prstDash val="solid"/>
          </a:ln>
          <a:effectLst>
            <a:outerShdw blurRad="127000" dist="38100" dir="5400000" algn="bl" rotWithShape="0">
              <a:srgbClr val="0F172A">
                <a:alpha val="10000"/>
              </a:srgbClr>
            </a:outerShdw>
          </a:effectLst>
        </p:spPr>
      </p:sp>
      <p:sp>
        <p:nvSpPr>
          <p:cNvPr id="26" name="Text 23"/>
          <p:cNvSpPr txBox="1"/>
          <p:nvPr/>
        </p:nvSpPr>
        <p:spPr>
          <a:xfrm>
            <a:off x="6528816" y="230428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kern="0" spc="120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STAGE 2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6528816" y="2560320"/>
            <a:ext cx="12618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Phishing Overlay Deployment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6528816" y="3273552"/>
            <a:ext cx="731520" cy="256032"/>
          </a:xfrm>
          <a:prstGeom prst="roundRect">
            <a:avLst>
              <a:gd name="adj" fmla="val 21429"/>
            </a:avLst>
          </a:prstGeom>
          <a:solidFill>
            <a:srgbClr val="EFF6FF"/>
          </a:solidFill>
          <a:ln w="9525">
            <a:solidFill>
              <a:srgbClr val="BFDBFE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528816" y="327355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T1411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7900416" y="2926080"/>
            <a:ext cx="219456" cy="0"/>
          </a:xfrm>
          <a:prstGeom prst="line">
            <a:avLst/>
          </a:prstGeom>
          <a:noFill/>
          <a:ln w="22225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31" name="Shape 28"/>
          <p:cNvSpPr/>
          <p:nvPr/>
        </p:nvSpPr>
        <p:spPr>
          <a:xfrm>
            <a:off x="8138160" y="2194560"/>
            <a:ext cx="1481328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BFDBFE"/>
            </a:solidFill>
            <a:prstDash val="solid"/>
          </a:ln>
          <a:effectLst>
            <a:outerShdw blurRad="127000" dist="38100" dir="5400000" algn="bl" rotWithShape="0">
              <a:srgbClr val="0F172A">
                <a:alpha val="10000"/>
              </a:srgbClr>
            </a:outerShdw>
          </a:effectLst>
        </p:spPr>
      </p:sp>
      <p:sp>
        <p:nvSpPr>
          <p:cNvPr id="32" name="Text 29"/>
          <p:cNvSpPr txBox="1"/>
          <p:nvPr/>
        </p:nvSpPr>
        <p:spPr>
          <a:xfrm>
            <a:off x="8266176" y="230428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kern="0" spc="120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STAGE 3</a:t>
            </a:r>
            <a:endParaRPr lang="en-US" sz="900" dirty="0"/>
          </a:p>
        </p:txBody>
      </p:sp>
      <p:sp>
        <p:nvSpPr>
          <p:cNvPr id="33" name="Text 30"/>
          <p:cNvSpPr txBox="1"/>
          <p:nvPr/>
        </p:nvSpPr>
        <p:spPr>
          <a:xfrm>
            <a:off x="8266176" y="2560320"/>
            <a:ext cx="12618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SMS / OTP Interception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8266176" y="3273552"/>
            <a:ext cx="731520" cy="256032"/>
          </a:xfrm>
          <a:prstGeom prst="roundRect">
            <a:avLst>
              <a:gd name="adj" fmla="val 21429"/>
            </a:avLst>
          </a:prstGeom>
          <a:solidFill>
            <a:srgbClr val="EFF6FF"/>
          </a:solidFill>
          <a:ln w="9525">
            <a:solidFill>
              <a:srgbClr val="BFDBFE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266176" y="327355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T1412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9637776" y="2926080"/>
            <a:ext cx="219456" cy="0"/>
          </a:xfrm>
          <a:prstGeom prst="line">
            <a:avLst/>
          </a:prstGeom>
          <a:noFill/>
          <a:ln w="22225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37" name="Shape 34"/>
          <p:cNvSpPr/>
          <p:nvPr/>
        </p:nvSpPr>
        <p:spPr>
          <a:xfrm>
            <a:off x="9875520" y="2194560"/>
            <a:ext cx="1481328" cy="1463040"/>
          </a:xfrm>
          <a:prstGeom prst="roundRect">
            <a:avLst>
              <a:gd name="adj" fmla="val 6250"/>
            </a:avLst>
          </a:prstGeom>
          <a:solidFill>
            <a:srgbClr val="2563EB"/>
          </a:solidFill>
          <a:ln/>
          <a:effectLst>
            <a:outerShdw blurRad="127000" dist="38100" dir="5400000" algn="bl" rotWithShape="0">
              <a:srgbClr val="0F172A">
                <a:alpha val="10000"/>
              </a:srgbClr>
            </a:outerShdw>
          </a:effectLst>
        </p:spPr>
      </p:sp>
      <p:sp>
        <p:nvSpPr>
          <p:cNvPr id="38" name="Text 35"/>
          <p:cNvSpPr txBox="1"/>
          <p:nvPr/>
        </p:nvSpPr>
        <p:spPr>
          <a:xfrm>
            <a:off x="10003536" y="230428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kern="0" spc="120" dirty="0">
                <a:solidFill>
                  <a:srgbClr val="DBEA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STAGE 4</a:t>
            </a:r>
            <a:endParaRPr lang="en-US" sz="900" dirty="0"/>
          </a:p>
        </p:txBody>
      </p:sp>
      <p:sp>
        <p:nvSpPr>
          <p:cNvPr id="39" name="Text 36"/>
          <p:cNvSpPr txBox="1"/>
          <p:nvPr/>
        </p:nvSpPr>
        <p:spPr>
          <a:xfrm>
            <a:off x="10003536" y="2560320"/>
            <a:ext cx="12618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C2 Network Communication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10003536" y="3273552"/>
            <a:ext cx="731520" cy="256032"/>
          </a:xfrm>
          <a:prstGeom prst="roundRect">
            <a:avLst>
              <a:gd name="adj" fmla="val 21429"/>
            </a:avLst>
          </a:prstGeom>
          <a:solidFill>
            <a:srgbClr val="1D4ED8"/>
          </a:solidFill>
          <a:ln w="9525">
            <a:solidFill>
              <a:srgbClr val="1D4ED8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10003536" y="327355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T1623</a:t>
            </a: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4663440" y="3886200"/>
            <a:ext cx="6693408" cy="0"/>
          </a:xfrm>
          <a:prstGeom prst="line">
            <a:avLst/>
          </a:prstGeom>
          <a:noFill/>
          <a:ln w="15875">
            <a:solidFill>
              <a:srgbClr val="0F172A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4663440" y="3767328"/>
            <a:ext cx="0" cy="118872"/>
          </a:xfrm>
          <a:prstGeom prst="line">
            <a:avLst/>
          </a:prstGeom>
          <a:noFill/>
          <a:ln w="15875">
            <a:solidFill>
              <a:srgbClr val="0F172A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11356848" y="3767328"/>
            <a:ext cx="0" cy="118872"/>
          </a:xfrm>
          <a:prstGeom prst="line">
            <a:avLst/>
          </a:prstGeom>
          <a:noFill/>
          <a:ln w="15875">
            <a:solidFill>
              <a:srgbClr val="0F172A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8010144" y="3886200"/>
            <a:ext cx="0" cy="182880"/>
          </a:xfrm>
          <a:prstGeom prst="line">
            <a:avLst/>
          </a:prstGeom>
          <a:noFill/>
          <a:ln w="15875">
            <a:solidFill>
              <a:srgbClr val="0F172A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6547104" y="4069080"/>
            <a:ext cx="2926080" cy="420624"/>
          </a:xfrm>
          <a:prstGeom prst="roundRect">
            <a:avLst>
              <a:gd name="adj" fmla="val 13043"/>
            </a:avLst>
          </a:prstGeom>
          <a:solidFill>
            <a:srgbClr val="0F172A"/>
          </a:solidFill>
          <a:ln/>
        </p:spPr>
      </p:sp>
      <p:sp>
        <p:nvSpPr>
          <p:cNvPr id="47" name="Text 44"/>
          <p:cNvSpPr txBox="1"/>
          <p:nvPr/>
        </p:nvSpPr>
        <p:spPr>
          <a:xfrm>
            <a:off x="6547104" y="4069080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FULL_ACCOUNT_TAKEOVER</a:t>
            </a:r>
            <a:endParaRPr lang="en-US" sz="1200" dirty="0"/>
          </a:p>
        </p:txBody>
      </p:sp>
      <p:sp>
        <p:nvSpPr>
          <p:cNvPr id="48" name="Text 45"/>
          <p:cNvSpPr txBox="1"/>
          <p:nvPr/>
        </p:nvSpPr>
        <p:spPr>
          <a:xfrm>
            <a:off x="4663440" y="4617720"/>
            <a:ext cx="6693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Composite sequence emitted by the reconstructor. Others it can name:</a:t>
            </a:r>
            <a:endParaRPr lang="en-US" sz="1050" dirty="0"/>
          </a:p>
        </p:txBody>
      </p:sp>
      <p:sp>
        <p:nvSpPr>
          <p:cNvPr id="49" name="Shape 46"/>
          <p:cNvSpPr/>
          <p:nvPr/>
        </p:nvSpPr>
        <p:spPr>
          <a:xfrm>
            <a:off x="5074920" y="4983480"/>
            <a:ext cx="192024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5074920" y="498348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OTP_THEFT_CHAIN</a:t>
            </a:r>
            <a:endParaRPr lang="en-US" sz="950" dirty="0"/>
          </a:p>
        </p:txBody>
      </p:sp>
      <p:sp>
        <p:nvSpPr>
          <p:cNvPr id="51" name="Shape 48"/>
          <p:cNvSpPr/>
          <p:nvPr/>
        </p:nvSpPr>
        <p:spPr>
          <a:xfrm>
            <a:off x="7132320" y="4983480"/>
            <a:ext cx="192024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7132320" y="498348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OVERLAY_PHISHING_CHAIN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9189720" y="4983480"/>
            <a:ext cx="192024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9189720" y="498348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DROPPER_CHAIN</a:t>
            </a:r>
            <a:endParaRPr lang="en-US" sz="950" dirty="0"/>
          </a:p>
        </p:txBody>
      </p:sp>
      <p:sp>
        <p:nvSpPr>
          <p:cNvPr id="55" name="Shape 52"/>
          <p:cNvSpPr/>
          <p:nvPr/>
        </p:nvSpPr>
        <p:spPr>
          <a:xfrm>
            <a:off x="640080" y="5715000"/>
            <a:ext cx="1091153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640080" y="5788152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3000" dirty="0"/>
          </a:p>
        </p:txBody>
      </p:sp>
      <p:sp>
        <p:nvSpPr>
          <p:cNvPr id="57" name="Text 54"/>
          <p:cNvSpPr txBox="1"/>
          <p:nvPr/>
        </p:nvSpPr>
        <p:spPr>
          <a:xfrm>
            <a:off x="1554480" y="578815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MITRE ATT&amp;CK for Mobile techniques mapped</a:t>
            </a:r>
            <a:endParaRPr lang="en-US" sz="1200" dirty="0"/>
          </a:p>
        </p:txBody>
      </p:sp>
      <p:pic>
        <p:nvPicPr>
          <p:cNvPr id="5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5916168"/>
            <a:ext cx="274320" cy="274320"/>
          </a:xfrm>
          <a:prstGeom prst="rect">
            <a:avLst/>
          </a:prstGeom>
        </p:spPr>
      </p:pic>
      <p:sp>
        <p:nvSpPr>
          <p:cNvPr id="59" name="Text 55"/>
          <p:cNvSpPr txBox="1"/>
          <p:nvPr/>
        </p:nvSpPr>
        <p:spPr>
          <a:xfrm>
            <a:off x="6675120" y="5788152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stage keeps the IDs of the records behind it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kern="0" spc="200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DETERMINISTIC RISK ENGINE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31520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Evidence in. One auditable number out.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98448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Fixed weights and fixed floors. Identical evidence always yields an identical verdict.</a:t>
            </a:r>
            <a:endParaRPr lang="en-US" sz="1400" dirty="0"/>
          </a:p>
        </p:txBody>
      </p:sp>
      <p:pic>
        <p:nvPicPr>
          <p:cNvPr id="5" name="Image 0" descr="D:/Projects/Sudarshan BOI/frontend/logo/SUDARSHAN_LOGO_COLOU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6455664"/>
            <a:ext cx="182880" cy="1828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96112" y="64465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kern="0" spc="1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SUDARSHAN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0424160" y="6446520"/>
            <a:ext cx="11274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/  15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192024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BFCI v2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2157984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runtime behaviour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103120" y="1993392"/>
            <a:ext cx="1463040" cy="329184"/>
          </a:xfrm>
          <a:prstGeom prst="roundRect">
            <a:avLst>
              <a:gd name="adj" fmla="val 11111"/>
            </a:avLst>
          </a:prstGeom>
          <a:solidFill>
            <a:srgbClr val="1E40AF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2103120" y="199339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×0.35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611880" y="2157984"/>
            <a:ext cx="320040" cy="425196"/>
          </a:xfrm>
          <a:prstGeom prst="line">
            <a:avLst/>
          </a:prstGeom>
          <a:noFill/>
          <a:ln w="13970">
            <a:solidFill>
              <a:srgbClr val="93C5FD"/>
            </a:solidFill>
            <a:prstDash val="solid"/>
            <a:tailEnd type="triangle"/>
          </a:ln>
        </p:spPr>
      </p:sp>
      <p:sp>
        <p:nvSpPr>
          <p:cNvPr id="13" name="Text 10"/>
          <p:cNvSpPr txBox="1"/>
          <p:nvPr/>
        </p:nvSpPr>
        <p:spPr>
          <a:xfrm>
            <a:off x="640080" y="2523744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STEI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640080" y="2761488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static threat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2103120" y="2596896"/>
            <a:ext cx="1045029" cy="329184"/>
          </a:xfrm>
          <a:prstGeom prst="roundRect">
            <a:avLst>
              <a:gd name="adj" fmla="val 11111"/>
            </a:avLst>
          </a:prstGeom>
          <a:solidFill>
            <a:srgbClr val="2563EB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2103120" y="2596896"/>
            <a:ext cx="104502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×0.25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3193869" y="2761488"/>
            <a:ext cx="738051" cy="50292"/>
          </a:xfrm>
          <a:prstGeom prst="line">
            <a:avLst/>
          </a:prstGeom>
          <a:noFill/>
          <a:ln w="13970">
            <a:solidFill>
              <a:srgbClr val="93C5FD"/>
            </a:solidFill>
            <a:prstDash val="solid"/>
            <a:tailEnd type="triangle"/>
          </a:ln>
        </p:spPr>
      </p:sp>
      <p:sp>
        <p:nvSpPr>
          <p:cNvPr id="18" name="Text 15"/>
          <p:cNvSpPr txBox="1"/>
          <p:nvPr/>
        </p:nvSpPr>
        <p:spPr>
          <a:xfrm>
            <a:off x="640080" y="3127248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Correlation</a:t>
            </a:r>
            <a:endParaRPr lang="en-US" sz="115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3364992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threat intel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2103120" y="3200400"/>
            <a:ext cx="836023" cy="329184"/>
          </a:xfrm>
          <a:prstGeom prst="roundRect">
            <a:avLst>
              <a:gd name="adj" fmla="val 11111"/>
            </a:avLst>
          </a:prstGeom>
          <a:solidFill>
            <a:srgbClr val="60A5FA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2103120" y="3200400"/>
            <a:ext cx="83602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×0.20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 flipV="1">
            <a:off x="2984863" y="3040380"/>
            <a:ext cx="947057" cy="324612"/>
          </a:xfrm>
          <a:prstGeom prst="line">
            <a:avLst/>
          </a:prstGeom>
          <a:noFill/>
          <a:ln w="13970">
            <a:solidFill>
              <a:srgbClr val="93C5FD"/>
            </a:solidFill>
            <a:prstDash val="solid"/>
            <a:tailEnd type="triangle"/>
          </a:ln>
        </p:spPr>
      </p:sp>
      <p:sp>
        <p:nvSpPr>
          <p:cNvPr id="23" name="Text 20"/>
          <p:cNvSpPr txBox="1"/>
          <p:nvPr/>
        </p:nvSpPr>
        <p:spPr>
          <a:xfrm>
            <a:off x="640080" y="373075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Banking impact</a:t>
            </a:r>
            <a:endParaRPr lang="en-US" sz="1150" dirty="0"/>
          </a:p>
        </p:txBody>
      </p:sp>
      <p:sp>
        <p:nvSpPr>
          <p:cNvPr id="24" name="Text 21"/>
          <p:cNvSpPr txBox="1"/>
          <p:nvPr/>
        </p:nvSpPr>
        <p:spPr>
          <a:xfrm>
            <a:off x="640080" y="3968496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targeted banks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2103120" y="3803904"/>
            <a:ext cx="836023" cy="329184"/>
          </a:xfrm>
          <a:prstGeom prst="roundRect">
            <a:avLst>
              <a:gd name="adj" fmla="val 11111"/>
            </a:avLst>
          </a:prstGeom>
          <a:solidFill>
            <a:srgbClr val="60A5FA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2103120" y="3803904"/>
            <a:ext cx="83602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×0.20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 flipV="1">
            <a:off x="2984863" y="3268980"/>
            <a:ext cx="947057" cy="699516"/>
          </a:xfrm>
          <a:prstGeom prst="line">
            <a:avLst/>
          </a:prstGeom>
          <a:noFill/>
          <a:ln w="13970">
            <a:solidFill>
              <a:srgbClr val="93C5FD"/>
            </a:solidFill>
            <a:prstDash val="solid"/>
            <a:tailEnd type="triangle"/>
          </a:ln>
        </p:spPr>
      </p:sp>
      <p:sp>
        <p:nvSpPr>
          <p:cNvPr id="28" name="Shape 25"/>
          <p:cNvSpPr/>
          <p:nvPr/>
        </p:nvSpPr>
        <p:spPr>
          <a:xfrm>
            <a:off x="3931920" y="2103120"/>
            <a:ext cx="2103120" cy="1691640"/>
          </a:xfrm>
          <a:prstGeom prst="roundRect">
            <a:avLst>
              <a:gd name="adj" fmla="val 6486"/>
            </a:avLst>
          </a:prstGeom>
          <a:solidFill>
            <a:srgbClr val="0F172A"/>
          </a:solidFill>
          <a:ln/>
        </p:spPr>
      </p:sp>
      <p:pic>
        <p:nvPicPr>
          <p:cNvPr id="2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2312" y="2240280"/>
            <a:ext cx="402336" cy="402336"/>
          </a:xfrm>
          <a:prstGeom prst="rect">
            <a:avLst/>
          </a:prstGeom>
        </p:spPr>
      </p:pic>
      <p:sp>
        <p:nvSpPr>
          <p:cNvPr id="30" name="Text 26"/>
          <p:cNvSpPr txBox="1"/>
          <p:nvPr/>
        </p:nvSpPr>
        <p:spPr>
          <a:xfrm>
            <a:off x="3931920" y="26974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kern="0" spc="1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 ENGINE</a:t>
            </a:r>
            <a:endParaRPr lang="en-US" sz="1300" dirty="0"/>
          </a:p>
        </p:txBody>
      </p:sp>
      <p:sp>
        <p:nvSpPr>
          <p:cNvPr id="31" name="Text 27"/>
          <p:cNvSpPr txBox="1"/>
          <p:nvPr/>
        </p:nvSpPr>
        <p:spPr>
          <a:xfrm>
            <a:off x="4023360" y="30175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dirty="0">
                <a:solidFill>
                  <a:srgbClr val="BFDB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model in the scoring path</a:t>
            </a:r>
            <a:endParaRPr lang="en-US" sz="950" dirty="0"/>
          </a:p>
        </p:txBody>
      </p:sp>
      <p:sp>
        <p:nvSpPr>
          <p:cNvPr id="32" name="Shape 28"/>
          <p:cNvSpPr/>
          <p:nvPr/>
        </p:nvSpPr>
        <p:spPr>
          <a:xfrm>
            <a:off x="6053328" y="2944368"/>
            <a:ext cx="438912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33" name="Text 29"/>
          <p:cNvSpPr txBox="1"/>
          <p:nvPr/>
        </p:nvSpPr>
        <p:spPr>
          <a:xfrm>
            <a:off x="6583680" y="18745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FRS  </a:t>
            </a:r>
            <a:r>
              <a:rPr lang="en-US" sz="13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Fraud Risk Score, 0 to 100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6583680" y="2697480"/>
            <a:ext cx="960120" cy="38404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5" name="Text 31"/>
          <p:cNvSpPr txBox="1"/>
          <p:nvPr/>
        </p:nvSpPr>
        <p:spPr>
          <a:xfrm>
            <a:off x="6583680" y="2697480"/>
            <a:ext cx="98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Safe</a:t>
            </a:r>
            <a:endParaRPr lang="en-US" sz="1000" dirty="0"/>
          </a:p>
        </p:txBody>
      </p:sp>
      <p:sp>
        <p:nvSpPr>
          <p:cNvPr id="36" name="Text 32"/>
          <p:cNvSpPr txBox="1"/>
          <p:nvPr/>
        </p:nvSpPr>
        <p:spPr>
          <a:xfrm>
            <a:off x="6400800" y="310896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850" dirty="0"/>
          </a:p>
        </p:txBody>
      </p:sp>
      <p:sp>
        <p:nvSpPr>
          <p:cNvPr id="37" name="Shape 33"/>
          <p:cNvSpPr/>
          <p:nvPr/>
        </p:nvSpPr>
        <p:spPr>
          <a:xfrm>
            <a:off x="7571232" y="2697480"/>
            <a:ext cx="960120" cy="38404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8" name="Text 34"/>
          <p:cNvSpPr txBox="1"/>
          <p:nvPr/>
        </p:nvSpPr>
        <p:spPr>
          <a:xfrm>
            <a:off x="7571232" y="2697480"/>
            <a:ext cx="98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Low</a:t>
            </a:r>
            <a:endParaRPr lang="en-US" sz="1000" dirty="0"/>
          </a:p>
        </p:txBody>
      </p:sp>
      <p:sp>
        <p:nvSpPr>
          <p:cNvPr id="39" name="Text 35"/>
          <p:cNvSpPr txBox="1"/>
          <p:nvPr/>
        </p:nvSpPr>
        <p:spPr>
          <a:xfrm>
            <a:off x="7388352" y="310896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</a:t>
            </a:r>
            <a:endParaRPr lang="en-US" sz="850" dirty="0"/>
          </a:p>
        </p:txBody>
      </p:sp>
      <p:sp>
        <p:nvSpPr>
          <p:cNvPr id="40" name="Shape 36"/>
          <p:cNvSpPr/>
          <p:nvPr/>
        </p:nvSpPr>
        <p:spPr>
          <a:xfrm>
            <a:off x="8558784" y="2697480"/>
            <a:ext cx="960120" cy="38404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1" name="Text 37"/>
          <p:cNvSpPr txBox="1"/>
          <p:nvPr/>
        </p:nvSpPr>
        <p:spPr>
          <a:xfrm>
            <a:off x="8558784" y="2697480"/>
            <a:ext cx="98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Medium</a:t>
            </a:r>
            <a:endParaRPr lang="en-US" sz="1000" dirty="0"/>
          </a:p>
        </p:txBody>
      </p:sp>
      <p:sp>
        <p:nvSpPr>
          <p:cNvPr id="42" name="Text 38"/>
          <p:cNvSpPr txBox="1"/>
          <p:nvPr/>
        </p:nvSpPr>
        <p:spPr>
          <a:xfrm>
            <a:off x="8375904" y="310896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40</a:t>
            </a:r>
            <a:endParaRPr lang="en-US" sz="850" dirty="0"/>
          </a:p>
        </p:txBody>
      </p:sp>
      <p:sp>
        <p:nvSpPr>
          <p:cNvPr id="43" name="Shape 39"/>
          <p:cNvSpPr/>
          <p:nvPr/>
        </p:nvSpPr>
        <p:spPr>
          <a:xfrm>
            <a:off x="9546336" y="2697480"/>
            <a:ext cx="960120" cy="384048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44" name="Text 40"/>
          <p:cNvSpPr txBox="1"/>
          <p:nvPr/>
        </p:nvSpPr>
        <p:spPr>
          <a:xfrm>
            <a:off x="9546336" y="2697480"/>
            <a:ext cx="98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</a:t>
            </a:r>
            <a:endParaRPr lang="en-US" sz="1000" dirty="0"/>
          </a:p>
        </p:txBody>
      </p:sp>
      <p:sp>
        <p:nvSpPr>
          <p:cNvPr id="45" name="Text 41"/>
          <p:cNvSpPr txBox="1"/>
          <p:nvPr/>
        </p:nvSpPr>
        <p:spPr>
          <a:xfrm>
            <a:off x="9363456" y="310896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60</a:t>
            </a:r>
            <a:endParaRPr lang="en-US" sz="850" dirty="0"/>
          </a:p>
        </p:txBody>
      </p:sp>
      <p:sp>
        <p:nvSpPr>
          <p:cNvPr id="46" name="Shape 42"/>
          <p:cNvSpPr/>
          <p:nvPr/>
        </p:nvSpPr>
        <p:spPr>
          <a:xfrm>
            <a:off x="10533888" y="2697480"/>
            <a:ext cx="960120" cy="38404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7" name="Text 43"/>
          <p:cNvSpPr txBox="1"/>
          <p:nvPr/>
        </p:nvSpPr>
        <p:spPr>
          <a:xfrm>
            <a:off x="10533888" y="2697480"/>
            <a:ext cx="98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</a:t>
            </a:r>
            <a:endParaRPr lang="en-US" sz="1000" dirty="0"/>
          </a:p>
        </p:txBody>
      </p:sp>
      <p:sp>
        <p:nvSpPr>
          <p:cNvPr id="48" name="Text 44"/>
          <p:cNvSpPr txBox="1"/>
          <p:nvPr/>
        </p:nvSpPr>
        <p:spPr>
          <a:xfrm>
            <a:off x="10351008" y="310896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80</a:t>
            </a:r>
            <a:endParaRPr lang="en-US" sz="850" dirty="0"/>
          </a:p>
        </p:txBody>
      </p:sp>
      <p:sp>
        <p:nvSpPr>
          <p:cNvPr id="49" name="Text 45"/>
          <p:cNvSpPr txBox="1"/>
          <p:nvPr/>
        </p:nvSpPr>
        <p:spPr>
          <a:xfrm>
            <a:off x="11338560" y="310896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</a:t>
            </a:r>
            <a:endParaRPr lang="en-US" sz="850" dirty="0"/>
          </a:p>
        </p:txBody>
      </p:sp>
      <p:sp>
        <p:nvSpPr>
          <p:cNvPr id="50" name="Shape 46"/>
          <p:cNvSpPr/>
          <p:nvPr/>
        </p:nvSpPr>
        <p:spPr>
          <a:xfrm>
            <a:off x="9324137" y="2331720"/>
            <a:ext cx="0" cy="777240"/>
          </a:xfrm>
          <a:prstGeom prst="line">
            <a:avLst/>
          </a:prstGeom>
          <a:noFill/>
          <a:ln w="25400">
            <a:solidFill>
              <a:srgbClr val="0F172A"/>
            </a:solidFill>
            <a:prstDash val="solid"/>
          </a:ln>
        </p:spPr>
      </p:sp>
      <p:sp>
        <p:nvSpPr>
          <p:cNvPr id="51" name="Shape 47"/>
          <p:cNvSpPr/>
          <p:nvPr/>
        </p:nvSpPr>
        <p:spPr>
          <a:xfrm>
            <a:off x="8638337" y="2157984"/>
            <a:ext cx="1371600" cy="256032"/>
          </a:xfrm>
          <a:prstGeom prst="roundRect">
            <a:avLst>
              <a:gd name="adj" fmla="val 17857"/>
            </a:avLst>
          </a:prstGeom>
          <a:solidFill>
            <a:srgbClr val="0F172A"/>
          </a:solidFill>
          <a:ln/>
        </p:spPr>
      </p:sp>
      <p:sp>
        <p:nvSpPr>
          <p:cNvPr id="52" name="Text 48"/>
          <p:cNvSpPr txBox="1"/>
          <p:nvPr/>
        </p:nvSpPr>
        <p:spPr>
          <a:xfrm>
            <a:off x="8638337" y="215798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 case  55.5</a:t>
            </a:r>
            <a:endParaRPr lang="en-US" sz="900" dirty="0"/>
          </a:p>
        </p:txBody>
      </p:sp>
      <p:sp>
        <p:nvSpPr>
          <p:cNvPr id="53" name="Text 49"/>
          <p:cNvSpPr txBox="1"/>
          <p:nvPr/>
        </p:nvSpPr>
        <p:spPr>
          <a:xfrm>
            <a:off x="6583680" y="3520440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b="1" kern="0" spc="150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SAFETY FLOORS AND ESCALATION</a:t>
            </a:r>
            <a:endParaRPr lang="en-US" sz="1000" dirty="0"/>
          </a:p>
        </p:txBody>
      </p:sp>
      <p:sp>
        <p:nvSpPr>
          <p:cNvPr id="54" name="Shape 50"/>
          <p:cNvSpPr/>
          <p:nvPr/>
        </p:nvSpPr>
        <p:spPr>
          <a:xfrm>
            <a:off x="6583680" y="3840480"/>
            <a:ext cx="160020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5" name="Text 51"/>
          <p:cNvSpPr txBox="1"/>
          <p:nvPr/>
        </p:nvSpPr>
        <p:spPr>
          <a:xfrm>
            <a:off x="6583680" y="3840480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Visibility floor</a:t>
            </a:r>
            <a:endParaRPr lang="en-US" sz="950" dirty="0"/>
          </a:p>
        </p:txBody>
      </p:sp>
      <p:sp>
        <p:nvSpPr>
          <p:cNvPr id="56" name="Shape 52"/>
          <p:cNvSpPr/>
          <p:nvPr/>
        </p:nvSpPr>
        <p:spPr>
          <a:xfrm>
            <a:off x="8257032" y="3840480"/>
            <a:ext cx="160020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7" name="Text 53"/>
          <p:cNvSpPr txBox="1"/>
          <p:nvPr/>
        </p:nvSpPr>
        <p:spPr>
          <a:xfrm>
            <a:off x="8257032" y="3840480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Static-evidence floor</a:t>
            </a:r>
            <a:endParaRPr lang="en-US" sz="950" dirty="0"/>
          </a:p>
        </p:txBody>
      </p:sp>
      <p:sp>
        <p:nvSpPr>
          <p:cNvPr id="58" name="Shape 54"/>
          <p:cNvSpPr/>
          <p:nvPr/>
        </p:nvSpPr>
        <p:spPr>
          <a:xfrm>
            <a:off x="9930384" y="3840480"/>
            <a:ext cx="160020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9" name="Text 55"/>
          <p:cNvSpPr txBox="1"/>
          <p:nvPr/>
        </p:nvSpPr>
        <p:spPr>
          <a:xfrm>
            <a:off x="9930384" y="3840480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Evasion floor</a:t>
            </a:r>
            <a:endParaRPr lang="en-US" sz="950" dirty="0"/>
          </a:p>
        </p:txBody>
      </p:sp>
      <p:sp>
        <p:nvSpPr>
          <p:cNvPr id="60" name="Shape 56"/>
          <p:cNvSpPr/>
          <p:nvPr/>
        </p:nvSpPr>
        <p:spPr>
          <a:xfrm>
            <a:off x="6583680" y="4251960"/>
            <a:ext cx="160020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1" name="Text 57"/>
          <p:cNvSpPr txBox="1"/>
          <p:nvPr/>
        </p:nvSpPr>
        <p:spPr>
          <a:xfrm>
            <a:off x="6583680" y="4251960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Execution assertions</a:t>
            </a:r>
            <a:endParaRPr lang="en-US" sz="950" dirty="0"/>
          </a:p>
        </p:txBody>
      </p:sp>
      <p:sp>
        <p:nvSpPr>
          <p:cNvPr id="62" name="Shape 58"/>
          <p:cNvSpPr/>
          <p:nvPr/>
        </p:nvSpPr>
        <p:spPr>
          <a:xfrm>
            <a:off x="8257032" y="4251960"/>
            <a:ext cx="1600200" cy="329184"/>
          </a:xfrm>
          <a:prstGeom prst="roundRect">
            <a:avLst>
              <a:gd name="adj" fmla="val 16667"/>
            </a:avLst>
          </a:prstGeom>
          <a:solidFill>
            <a:srgbClr val="0F172A"/>
          </a:solidFill>
          <a:ln w="9525">
            <a:solidFill>
              <a:srgbClr val="0F172A"/>
            </a:solidFill>
            <a:prstDash val="solid"/>
          </a:ln>
        </p:spPr>
      </p:sp>
      <p:sp>
        <p:nvSpPr>
          <p:cNvPr id="63" name="Text 59"/>
          <p:cNvSpPr txBox="1"/>
          <p:nvPr/>
        </p:nvSpPr>
        <p:spPr>
          <a:xfrm>
            <a:off x="8257032" y="4251960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CH27 triad  ≥ 95</a:t>
            </a:r>
            <a:endParaRPr lang="en-US" sz="950" dirty="0"/>
          </a:p>
        </p:txBody>
      </p:sp>
      <p:sp>
        <p:nvSpPr>
          <p:cNvPr id="64" name="Text 60"/>
          <p:cNvSpPr txBox="1"/>
          <p:nvPr/>
        </p:nvSpPr>
        <p:spPr>
          <a:xfrm>
            <a:off x="640080" y="457200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b="1" kern="0" spc="1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 CASE IN THE CONSOLE</a:t>
            </a:r>
            <a:endParaRPr lang="en-US" sz="1000" dirty="0"/>
          </a:p>
        </p:txBody>
      </p:sp>
      <p:sp>
        <p:nvSpPr>
          <p:cNvPr id="65" name="Shape 61"/>
          <p:cNvSpPr/>
          <p:nvPr/>
        </p:nvSpPr>
        <p:spPr>
          <a:xfrm>
            <a:off x="612648" y="4837176"/>
            <a:ext cx="3438144" cy="1453896"/>
          </a:xfrm>
          <a:prstGeom prst="roundRect">
            <a:avLst>
              <a:gd name="adj" fmla="val 251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F172A">
                <a:alpha val="10000"/>
              </a:srgbClr>
            </a:outerShdw>
          </a:effectLst>
        </p:spPr>
      </p:sp>
      <p:pic>
        <p:nvPicPr>
          <p:cNvPr id="66" name="Image 2" descr="C:\Users\sansk\AppData\Local\Temp\claude\D--Projects-Sudarshan-BOI\7ae2fbd2-8d8e-4c16-a005-dd078c20e25b\scratchpad\img\driv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4864608"/>
            <a:ext cx="3383280" cy="1399032"/>
          </a:xfrm>
          <a:prstGeom prst="rect">
            <a:avLst/>
          </a:prstGeom>
        </p:spPr>
      </p:pic>
      <p:sp>
        <p:nvSpPr>
          <p:cNvPr id="67" name="Text 62"/>
          <p:cNvSpPr txBox="1"/>
          <p:nvPr/>
        </p:nvSpPr>
        <p:spPr>
          <a:xfrm>
            <a:off x="4251960" y="4864608"/>
            <a:ext cx="2377440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axis opens the findings that moved it.</a:t>
            </a:r>
            <a:endParaRPr lang="en-US" sz="1100" dirty="0"/>
          </a:p>
        </p:txBody>
      </p:sp>
      <p:sp>
        <p:nvSpPr>
          <p:cNvPr id="68" name="Shape 63"/>
          <p:cNvSpPr/>
          <p:nvPr/>
        </p:nvSpPr>
        <p:spPr>
          <a:xfrm>
            <a:off x="7132320" y="4864608"/>
            <a:ext cx="4416552" cy="114300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9525">
            <a:solidFill>
              <a:srgbClr val="BFDBFE"/>
            </a:solidFill>
            <a:prstDash val="solid"/>
          </a:ln>
        </p:spPr>
      </p:sp>
      <p:pic>
        <p:nvPicPr>
          <p:cNvPr id="6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5047488"/>
            <a:ext cx="365760" cy="365760"/>
          </a:xfrm>
          <a:prstGeom prst="rect">
            <a:avLst/>
          </a:prstGeom>
        </p:spPr>
      </p:pic>
      <p:sp>
        <p:nvSpPr>
          <p:cNvPr id="70" name="Text 64"/>
          <p:cNvSpPr txBox="1"/>
          <p:nvPr/>
        </p:nvSpPr>
        <p:spPr>
          <a:xfrm>
            <a:off x="7818120" y="498348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kern="0" spc="12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ANALYST DECISION</a:t>
            </a:r>
            <a:endParaRPr lang="en-US" sz="1100" dirty="0"/>
          </a:p>
        </p:txBody>
      </p:sp>
      <p:sp>
        <p:nvSpPr>
          <p:cNvPr id="71" name="Text 65"/>
          <p:cNvSpPr txBox="1"/>
          <p:nvPr/>
        </p:nvSpPr>
        <p:spPr>
          <a:xfrm>
            <a:off x="7818120" y="5303520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SOC lead can record a verdict with a reason. It is stored beside the engine score, never over it.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kern="0" spc="200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INVESTIGATION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31520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explains the evidence. It never scores it.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98448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Gemini answers only from this case’s evidence records, and nothing it says reaches the score.</a:t>
            </a:r>
            <a:endParaRPr lang="en-US" sz="1400" dirty="0"/>
          </a:p>
        </p:txBody>
      </p:sp>
      <p:pic>
        <p:nvPicPr>
          <p:cNvPr id="5" name="Image 0" descr="D:/Projects/Sudarshan BOI/frontend/logo/SUDARSHAN_LOGO_COLOU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6455664"/>
            <a:ext cx="182880" cy="1828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96112" y="64465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kern="0" spc="1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SUDARSHAN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0424160" y="6446520"/>
            <a:ext cx="11274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</a:t>
            </a: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/  15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640080" y="1920240"/>
            <a:ext cx="187452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BFDBFE"/>
            </a:solidFill>
            <a:prstDash val="solid"/>
          </a:ln>
          <a:effectLst>
            <a:outerShdw blurRad="127000" dist="38100" dir="5400000" algn="bl" rotWithShape="0">
              <a:srgbClr val="0F172A">
                <a:alpha val="10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2185416"/>
            <a:ext cx="292608" cy="29260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170432" y="1993392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Evidence store</a:t>
            </a:r>
            <a:endParaRPr lang="en-US" sz="1150" dirty="0"/>
          </a:p>
        </p:txBody>
      </p:sp>
      <p:sp>
        <p:nvSpPr>
          <p:cNvPr id="11" name="Text 7"/>
          <p:cNvSpPr txBox="1"/>
          <p:nvPr/>
        </p:nvSpPr>
        <p:spPr>
          <a:xfrm>
            <a:off x="1170432" y="233172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verified records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2532888" y="2331720"/>
            <a:ext cx="283464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3" name="Shape 9"/>
          <p:cNvSpPr/>
          <p:nvPr/>
        </p:nvSpPr>
        <p:spPr>
          <a:xfrm>
            <a:off x="2834640" y="1920240"/>
            <a:ext cx="187452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BFDBFE"/>
            </a:solidFill>
            <a:prstDash val="solid"/>
          </a:ln>
          <a:effectLst>
            <a:outerShdw blurRad="127000" dist="38100" dir="5400000" algn="bl" rotWithShape="0">
              <a:srgbClr val="0F172A">
                <a:alpha val="10000"/>
              </a:srgbClr>
            </a:outerShdw>
          </a:effectLst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71800" y="2185416"/>
            <a:ext cx="292608" cy="292608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3364992" y="1993392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Sanitiser</a:t>
            </a:r>
            <a:endParaRPr lang="en-US" sz="1150" dirty="0"/>
          </a:p>
        </p:txBody>
      </p:sp>
      <p:sp>
        <p:nvSpPr>
          <p:cNvPr id="16" name="Text 11"/>
          <p:cNvSpPr txBox="1"/>
          <p:nvPr/>
        </p:nvSpPr>
        <p:spPr>
          <a:xfrm>
            <a:off x="3364992" y="233172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strips injected text</a:t>
            </a:r>
            <a:endParaRPr lang="en-US" sz="950" dirty="0"/>
          </a:p>
        </p:txBody>
      </p:sp>
      <p:sp>
        <p:nvSpPr>
          <p:cNvPr id="17" name="Shape 12"/>
          <p:cNvSpPr/>
          <p:nvPr/>
        </p:nvSpPr>
        <p:spPr>
          <a:xfrm>
            <a:off x="4727448" y="2331720"/>
            <a:ext cx="283464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8" name="Shape 13"/>
          <p:cNvSpPr/>
          <p:nvPr/>
        </p:nvSpPr>
        <p:spPr>
          <a:xfrm>
            <a:off x="5029200" y="1920240"/>
            <a:ext cx="187452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BFDBFE"/>
            </a:solidFill>
            <a:prstDash val="solid"/>
          </a:ln>
          <a:effectLst>
            <a:outerShdw blurRad="127000" dist="38100" dir="5400000" algn="bl" rotWithShape="0">
              <a:srgbClr val="0F172A">
                <a:alpha val="10000"/>
              </a:srgbClr>
            </a:outerShdw>
          </a:effectLst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66360" y="2185416"/>
            <a:ext cx="292608" cy="292608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5559552" y="1993392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Case graph</a:t>
            </a:r>
            <a:endParaRPr lang="en-US" sz="1150" dirty="0"/>
          </a:p>
        </p:txBody>
      </p:sp>
      <p:sp>
        <p:nvSpPr>
          <p:cNvPr id="21" name="Text 15"/>
          <p:cNvSpPr txBox="1"/>
          <p:nvPr/>
        </p:nvSpPr>
        <p:spPr>
          <a:xfrm>
            <a:off x="5559552" y="233172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 SHA-256</a:t>
            </a:r>
            <a:endParaRPr lang="en-US" sz="950" dirty="0"/>
          </a:p>
        </p:txBody>
      </p:sp>
      <p:sp>
        <p:nvSpPr>
          <p:cNvPr id="22" name="Shape 16"/>
          <p:cNvSpPr/>
          <p:nvPr/>
        </p:nvSpPr>
        <p:spPr>
          <a:xfrm>
            <a:off x="6922008" y="2331720"/>
            <a:ext cx="283464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23" name="Shape 17"/>
          <p:cNvSpPr/>
          <p:nvPr/>
        </p:nvSpPr>
        <p:spPr>
          <a:xfrm>
            <a:off x="7223760" y="1920240"/>
            <a:ext cx="1874520" cy="822960"/>
          </a:xfrm>
          <a:prstGeom prst="roundRect">
            <a:avLst>
              <a:gd name="adj" fmla="val 11111"/>
            </a:avLst>
          </a:prstGeom>
          <a:solidFill>
            <a:srgbClr val="2563EB"/>
          </a:solidFill>
          <a:ln/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60920" y="2185416"/>
            <a:ext cx="292608" cy="292608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7754112" y="1993392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Gemini 2.5 Flash</a:t>
            </a:r>
            <a:endParaRPr lang="en-US" sz="1150" dirty="0"/>
          </a:p>
        </p:txBody>
      </p:sp>
      <p:sp>
        <p:nvSpPr>
          <p:cNvPr id="26" name="Text 19"/>
          <p:cNvSpPr txBox="1"/>
          <p:nvPr/>
        </p:nvSpPr>
        <p:spPr>
          <a:xfrm>
            <a:off x="7754112" y="233172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DBEA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bounded prompt</a:t>
            </a:r>
            <a:endParaRPr lang="en-US" sz="950" dirty="0"/>
          </a:p>
        </p:txBody>
      </p:sp>
      <p:sp>
        <p:nvSpPr>
          <p:cNvPr id="27" name="Shape 20"/>
          <p:cNvSpPr/>
          <p:nvPr/>
        </p:nvSpPr>
        <p:spPr>
          <a:xfrm>
            <a:off x="9116568" y="2331720"/>
            <a:ext cx="283464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28" name="Shape 21"/>
          <p:cNvSpPr/>
          <p:nvPr/>
        </p:nvSpPr>
        <p:spPr>
          <a:xfrm>
            <a:off x="9418320" y="1920240"/>
            <a:ext cx="187452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BFDBFE"/>
            </a:solidFill>
            <a:prstDash val="solid"/>
          </a:ln>
          <a:effectLst>
            <a:outerShdw blurRad="127000" dist="38100" dir="5400000" algn="bl" rotWithShape="0">
              <a:srgbClr val="0F172A">
                <a:alpha val="10000"/>
              </a:srgbClr>
            </a:outerShdw>
          </a:effectLst>
        </p:spPr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55480" y="2185416"/>
            <a:ext cx="292608" cy="292608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9948672" y="1993392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Grounded answer</a:t>
            </a:r>
            <a:endParaRPr lang="en-US" sz="1150" dirty="0"/>
          </a:p>
        </p:txBody>
      </p:sp>
      <p:sp>
        <p:nvSpPr>
          <p:cNvPr id="31" name="Text 23"/>
          <p:cNvSpPr txBox="1"/>
          <p:nvPr/>
        </p:nvSpPr>
        <p:spPr>
          <a:xfrm>
            <a:off x="9948672" y="233172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cites record IDs</a:t>
            </a:r>
            <a:endParaRPr lang="en-US" sz="950" dirty="0"/>
          </a:p>
        </p:txBody>
      </p:sp>
      <p:sp>
        <p:nvSpPr>
          <p:cNvPr id="32" name="Shape 24"/>
          <p:cNvSpPr/>
          <p:nvPr/>
        </p:nvSpPr>
        <p:spPr>
          <a:xfrm>
            <a:off x="8161020" y="2743200"/>
            <a:ext cx="0" cy="502920"/>
          </a:xfrm>
          <a:prstGeom prst="line">
            <a:avLst/>
          </a:prstGeom>
          <a:noFill/>
          <a:ln w="19050">
            <a:solidFill>
              <a:srgbClr val="DC2626"/>
            </a:solidFill>
            <a:prstDash val="dash"/>
          </a:ln>
        </p:spPr>
      </p:sp>
      <p:sp>
        <p:nvSpPr>
          <p:cNvPr id="33" name="Shape 25"/>
          <p:cNvSpPr/>
          <p:nvPr/>
        </p:nvSpPr>
        <p:spPr>
          <a:xfrm>
            <a:off x="7658100" y="3273552"/>
            <a:ext cx="1005840" cy="0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34" name="Shape 26"/>
          <p:cNvSpPr/>
          <p:nvPr/>
        </p:nvSpPr>
        <p:spPr>
          <a:xfrm>
            <a:off x="7223760" y="3401568"/>
            <a:ext cx="1874520" cy="502920"/>
          </a:xfrm>
          <a:prstGeom prst="roundRect">
            <a:avLst>
              <a:gd name="adj" fmla="val 14545"/>
            </a:avLst>
          </a:prstGeom>
          <a:solidFill>
            <a:srgbClr val="0F172A"/>
          </a:solidFill>
          <a:ln/>
        </p:spPr>
      </p:sp>
      <p:sp>
        <p:nvSpPr>
          <p:cNvPr id="35" name="Text 27"/>
          <p:cNvSpPr txBox="1"/>
          <p:nvPr/>
        </p:nvSpPr>
        <p:spPr>
          <a:xfrm>
            <a:off x="7223760" y="3401568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kern="0" spc="12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 ENGINE</a:t>
            </a:r>
            <a:endParaRPr lang="en-US" sz="1100" dirty="0"/>
          </a:p>
        </p:txBody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58300" y="3127248"/>
            <a:ext cx="310896" cy="310896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9642348" y="301752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write path</a:t>
            </a:r>
            <a:endParaRPr lang="en-US" sz="11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 output cannot reach the scoring functions.</a:t>
            </a:r>
            <a:endParaRPr lang="en-US" sz="1150" dirty="0"/>
          </a:p>
        </p:txBody>
      </p:sp>
      <p:sp>
        <p:nvSpPr>
          <p:cNvPr id="38" name="Text 29"/>
          <p:cNvSpPr txBox="1"/>
          <p:nvPr/>
        </p:nvSpPr>
        <p:spPr>
          <a:xfrm>
            <a:off x="640080" y="329184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b="1" kern="0" spc="1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ASK SUDARSHAN, REAL CONSOLE</a:t>
            </a:r>
            <a:endParaRPr lang="en-US" sz="1000" dirty="0"/>
          </a:p>
        </p:txBody>
      </p:sp>
      <p:sp>
        <p:nvSpPr>
          <p:cNvPr id="39" name="Shape 30"/>
          <p:cNvSpPr/>
          <p:nvPr/>
        </p:nvSpPr>
        <p:spPr>
          <a:xfrm>
            <a:off x="612648" y="3584448"/>
            <a:ext cx="6364224" cy="2551176"/>
          </a:xfrm>
          <a:prstGeom prst="roundRect">
            <a:avLst>
              <a:gd name="adj" fmla="val 143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F172A">
                <a:alpha val="10000"/>
              </a:srgbClr>
            </a:outerShdw>
          </a:effectLst>
        </p:spPr>
      </p:sp>
      <p:pic>
        <p:nvPicPr>
          <p:cNvPr id="40" name="Image 7" descr="C:\Users\sansk\AppData\Local\Temp\claude\D--Projects-Sudarshan-BOI\7ae2fbd2-8d8e-4c16-a005-dd078c20e25b\scratchpad\img\chat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0080" y="3611880"/>
            <a:ext cx="6309360" cy="2496312"/>
          </a:xfrm>
          <a:prstGeom prst="rect">
            <a:avLst/>
          </a:prstGeom>
        </p:spPr>
      </p:pic>
      <p:sp>
        <p:nvSpPr>
          <p:cNvPr id="41" name="Text 31"/>
          <p:cNvSpPr txBox="1"/>
          <p:nvPr/>
        </p:nvSpPr>
        <p:spPr>
          <a:xfrm>
            <a:off x="7315200" y="4251960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b="1" kern="0" spc="150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IF THE MODEL IS UNAVAILABLE</a:t>
            </a:r>
            <a:endParaRPr lang="en-US" sz="1000" dirty="0"/>
          </a:p>
        </p:txBody>
      </p:sp>
      <p:sp>
        <p:nvSpPr>
          <p:cNvPr id="42" name="Shape 32"/>
          <p:cNvSpPr/>
          <p:nvPr/>
        </p:nvSpPr>
        <p:spPr>
          <a:xfrm>
            <a:off x="7315200" y="4572000"/>
            <a:ext cx="123444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3" name="Text 33"/>
          <p:cNvSpPr txBox="1"/>
          <p:nvPr/>
        </p:nvSpPr>
        <p:spPr>
          <a:xfrm>
            <a:off x="7315200" y="457200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AVAILABLE</a:t>
            </a:r>
            <a:endParaRPr lang="en-US" sz="950" dirty="0"/>
          </a:p>
        </p:txBody>
      </p:sp>
      <p:sp>
        <p:nvSpPr>
          <p:cNvPr id="44" name="Shape 34"/>
          <p:cNvSpPr/>
          <p:nvPr/>
        </p:nvSpPr>
        <p:spPr>
          <a:xfrm>
            <a:off x="8567928" y="4754880"/>
            <a:ext cx="192024" cy="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45" name="Shape 35"/>
          <p:cNvSpPr/>
          <p:nvPr/>
        </p:nvSpPr>
        <p:spPr>
          <a:xfrm>
            <a:off x="8778240" y="4572000"/>
            <a:ext cx="123444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6" name="Text 36"/>
          <p:cNvSpPr txBox="1"/>
          <p:nvPr/>
        </p:nvSpPr>
        <p:spPr>
          <a:xfrm>
            <a:off x="8778240" y="457200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DEGRADED</a:t>
            </a:r>
            <a:endParaRPr lang="en-US" sz="950" dirty="0"/>
          </a:p>
        </p:txBody>
      </p:sp>
      <p:sp>
        <p:nvSpPr>
          <p:cNvPr id="47" name="Shape 37"/>
          <p:cNvSpPr/>
          <p:nvPr/>
        </p:nvSpPr>
        <p:spPr>
          <a:xfrm>
            <a:off x="10030968" y="4754880"/>
            <a:ext cx="192024" cy="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48" name="Shape 38"/>
          <p:cNvSpPr/>
          <p:nvPr/>
        </p:nvSpPr>
        <p:spPr>
          <a:xfrm>
            <a:off x="10241280" y="4572000"/>
            <a:ext cx="1234440" cy="365760"/>
          </a:xfrm>
          <a:prstGeom prst="roundRect">
            <a:avLst>
              <a:gd name="adj" fmla="val 15000"/>
            </a:avLst>
          </a:prstGeom>
          <a:solidFill>
            <a:srgbClr val="0F172A"/>
          </a:solidFill>
          <a:ln w="9525">
            <a:solidFill>
              <a:srgbClr val="0F172A"/>
            </a:solidFill>
            <a:prstDash val="solid"/>
          </a:ln>
        </p:spPr>
      </p:sp>
      <p:sp>
        <p:nvSpPr>
          <p:cNvPr id="49" name="Text 39"/>
          <p:cNvSpPr txBox="1"/>
          <p:nvPr/>
        </p:nvSpPr>
        <p:spPr>
          <a:xfrm>
            <a:off x="10241280" y="457200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</a:t>
            </a:r>
            <a:endParaRPr lang="en-US" sz="950" dirty="0"/>
          </a:p>
        </p:txBody>
      </p:sp>
      <p:sp>
        <p:nvSpPr>
          <p:cNvPr id="50" name="Shape 40"/>
          <p:cNvSpPr/>
          <p:nvPr/>
        </p:nvSpPr>
        <p:spPr>
          <a:xfrm>
            <a:off x="10881360" y="4956048"/>
            <a:ext cx="0" cy="274320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51" name="Shape 41"/>
          <p:cNvSpPr/>
          <p:nvPr/>
        </p:nvSpPr>
        <p:spPr>
          <a:xfrm>
            <a:off x="7315200" y="5257800"/>
            <a:ext cx="4233672" cy="822960"/>
          </a:xfrm>
          <a:prstGeom prst="roundRect">
            <a:avLst>
              <a:gd name="adj" fmla="val 8889"/>
            </a:avLst>
          </a:prstGeom>
          <a:solidFill>
            <a:srgbClr val="EFF6FF"/>
          </a:solidFill>
          <a:ln w="9525">
            <a:solidFill>
              <a:srgbClr val="BFDBFE"/>
            </a:solidFill>
            <a:prstDash val="solid"/>
          </a:ln>
        </p:spPr>
      </p:sp>
      <p:sp>
        <p:nvSpPr>
          <p:cNvPr id="52" name="Text 42"/>
          <p:cNvSpPr txBox="1"/>
          <p:nvPr/>
        </p:nvSpPr>
        <p:spPr>
          <a:xfrm>
            <a:off x="7498080" y="525780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Template narrative from engine output</a:t>
            </a:r>
            <a:endParaRPr lang="en-US" sz="11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case report still completes with no AI at all.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kern="0" spc="200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ANALYST CONSOLE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31520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the analyst actually sees.</a:t>
            </a:r>
            <a:endParaRPr lang="en-US" sz="3000" dirty="0"/>
          </a:p>
        </p:txBody>
      </p:sp>
      <p:pic>
        <p:nvPicPr>
          <p:cNvPr id="4" name="Image 0" descr="D:/Projects/Sudarshan BOI/frontend/logo/SUDARSHAN_LOGO_COLOU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6455664"/>
            <a:ext cx="182880" cy="1828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96112" y="64465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kern="0" spc="1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SUDARSHAN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0424160" y="6446520"/>
            <a:ext cx="11274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</a:t>
            </a: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/  15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612648" y="1435608"/>
            <a:ext cx="7690104" cy="4826889"/>
          </a:xfrm>
          <a:prstGeom prst="roundRect">
            <a:avLst>
              <a:gd name="adj" fmla="val 75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F172A">
                <a:alpha val="10000"/>
              </a:srgbClr>
            </a:outerShdw>
          </a:effectLst>
        </p:spPr>
      </p:sp>
      <p:pic>
        <p:nvPicPr>
          <p:cNvPr id="8" name="Image 1" descr="C:\Users\sansk\AppData\Local\Temp\claude\D--Projects-Sudarshan-BOI\7ae2fbd2-8d8e-4c16-a005-dd078c20e25b\scratchpad\img\summa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463040"/>
            <a:ext cx="7635240" cy="4772025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798421" y="2014252"/>
            <a:ext cx="329184" cy="329184"/>
          </a:xfrm>
          <a:prstGeom prst="ellipse">
            <a:avLst/>
          </a:prstGeom>
          <a:solidFill>
            <a:srgbClr val="2563E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798421" y="20142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4197668" y="2376926"/>
            <a:ext cx="329184" cy="329184"/>
          </a:xfrm>
          <a:prstGeom prst="ellipse">
            <a:avLst/>
          </a:prstGeom>
          <a:solidFill>
            <a:srgbClr val="2563E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4197668" y="237692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3815906" y="4877467"/>
            <a:ext cx="329184" cy="329184"/>
          </a:xfrm>
          <a:prstGeom prst="ellipse">
            <a:avLst/>
          </a:prstGeom>
          <a:solidFill>
            <a:srgbClr val="2563E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3815906" y="4877467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6583680" y="4877467"/>
            <a:ext cx="329184" cy="329184"/>
          </a:xfrm>
          <a:prstGeom prst="ellipse">
            <a:avLst/>
          </a:prstGeom>
          <a:solidFill>
            <a:srgbClr val="2563E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6583680" y="4877467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000" dirty="0"/>
          </a:p>
        </p:txBody>
      </p:sp>
      <p:sp>
        <p:nvSpPr>
          <p:cNvPr id="17" name="Text 13"/>
          <p:cNvSpPr txBox="1"/>
          <p:nvPr/>
        </p:nvSpPr>
        <p:spPr>
          <a:xfrm>
            <a:off x="8686800" y="146304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b="1" kern="0" spc="150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 CASE, LOCAL CONSOLE</a:t>
            </a:r>
            <a:endParaRPr lang="en-US" sz="1000" dirty="0"/>
          </a:p>
        </p:txBody>
      </p:sp>
      <p:sp>
        <p:nvSpPr>
          <p:cNvPr id="18" name="Text 14"/>
          <p:cNvSpPr txBox="1"/>
          <p:nvPr/>
        </p:nvSpPr>
        <p:spPr>
          <a:xfrm>
            <a:off x="8686800" y="173736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Anubis-family sample referencing Axis, ICICI and HDFC.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8686800" y="2404872"/>
            <a:ext cx="329184" cy="329184"/>
          </a:xfrm>
          <a:prstGeom prst="ellipse">
            <a:avLst/>
          </a:prstGeom>
          <a:solidFill>
            <a:srgbClr val="2563E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8686800" y="24048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000" dirty="0"/>
          </a:p>
        </p:txBody>
      </p:sp>
      <p:sp>
        <p:nvSpPr>
          <p:cNvPr id="21" name="Text 17"/>
          <p:cNvSpPr txBox="1"/>
          <p:nvPr/>
        </p:nvSpPr>
        <p:spPr>
          <a:xfrm>
            <a:off x="9144000" y="242316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 score</a:t>
            </a:r>
            <a:endParaRPr lang="en-US" sz="1300" dirty="0"/>
          </a:p>
        </p:txBody>
      </p:sp>
      <p:sp>
        <p:nvSpPr>
          <p:cNvPr id="22" name="Text 18"/>
          <p:cNvSpPr txBox="1"/>
          <p:nvPr/>
        </p:nvSpPr>
        <p:spPr>
          <a:xfrm>
            <a:off x="9144000" y="272491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55.5 out of 100, from the deterministic engine.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8686800" y="3319272"/>
            <a:ext cx="329184" cy="329184"/>
          </a:xfrm>
          <a:prstGeom prst="ellipse">
            <a:avLst/>
          </a:prstGeom>
          <a:solidFill>
            <a:srgbClr val="2563E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8686800" y="33192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000" dirty="0"/>
          </a:p>
        </p:txBody>
      </p:sp>
      <p:sp>
        <p:nvSpPr>
          <p:cNvPr id="25" name="Text 21"/>
          <p:cNvSpPr txBox="1"/>
          <p:nvPr/>
        </p:nvSpPr>
        <p:spPr>
          <a:xfrm>
            <a:off x="9144000" y="333756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Family + target</a:t>
            </a:r>
            <a:endParaRPr lang="en-US" sz="1300" dirty="0"/>
          </a:p>
        </p:txBody>
      </p:sp>
      <p:sp>
        <p:nvSpPr>
          <p:cNvPr id="26" name="Text 22"/>
          <p:cNvSpPr txBox="1"/>
          <p:nvPr/>
        </p:nvSpPr>
        <p:spPr>
          <a:xfrm>
            <a:off x="9144000" y="363931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Anubis rule match. Targets Axis.</a:t>
            </a:r>
            <a:endParaRPr lang="en-US" sz="1050" dirty="0"/>
          </a:p>
        </p:txBody>
      </p:sp>
      <p:sp>
        <p:nvSpPr>
          <p:cNvPr id="27" name="Shape 23"/>
          <p:cNvSpPr/>
          <p:nvPr/>
        </p:nvSpPr>
        <p:spPr>
          <a:xfrm>
            <a:off x="8686800" y="4233672"/>
            <a:ext cx="329184" cy="329184"/>
          </a:xfrm>
          <a:prstGeom prst="ellipse">
            <a:avLst/>
          </a:prstGeom>
          <a:solidFill>
            <a:srgbClr val="2563E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8686800" y="42336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000" dirty="0"/>
          </a:p>
        </p:txBody>
      </p:sp>
      <p:sp>
        <p:nvSpPr>
          <p:cNvPr id="29" name="Text 25"/>
          <p:cNvSpPr txBox="1"/>
          <p:nvPr/>
        </p:nvSpPr>
        <p:spPr>
          <a:xfrm>
            <a:off x="9144000" y="425196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Score drivers</a:t>
            </a:r>
            <a:endParaRPr lang="en-US" sz="1300" dirty="0"/>
          </a:p>
        </p:txBody>
      </p:sp>
      <p:sp>
        <p:nvSpPr>
          <p:cNvPr id="30" name="Text 26"/>
          <p:cNvSpPr txBox="1"/>
          <p:nvPr/>
        </p:nvSpPr>
        <p:spPr>
          <a:xfrm>
            <a:off x="9144000" y="455371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Static +76.6, threat intel +18.7, dynamic 0.0.</a:t>
            </a:r>
            <a:endParaRPr lang="en-US" sz="1050" dirty="0"/>
          </a:p>
        </p:txBody>
      </p:sp>
      <p:sp>
        <p:nvSpPr>
          <p:cNvPr id="31" name="Shape 27"/>
          <p:cNvSpPr/>
          <p:nvPr/>
        </p:nvSpPr>
        <p:spPr>
          <a:xfrm>
            <a:off x="8686800" y="5148072"/>
            <a:ext cx="329184" cy="329184"/>
          </a:xfrm>
          <a:prstGeom prst="ellipse">
            <a:avLst/>
          </a:prstGeom>
          <a:solidFill>
            <a:srgbClr val="2563E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8686800" y="51480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000" dirty="0"/>
          </a:p>
        </p:txBody>
      </p:sp>
      <p:sp>
        <p:nvSpPr>
          <p:cNvPr id="33" name="Text 29"/>
          <p:cNvSpPr txBox="1"/>
          <p:nvPr/>
        </p:nvSpPr>
        <p:spPr>
          <a:xfrm>
            <a:off x="9144000" y="516636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Sandbox run</a:t>
            </a:r>
            <a:endParaRPr lang="en-US" sz="1300" dirty="0"/>
          </a:p>
        </p:txBody>
      </p:sp>
      <p:sp>
        <p:nvSpPr>
          <p:cNvPr id="34" name="Text 30"/>
          <p:cNvSpPr txBox="1"/>
          <p:nvPr/>
        </p:nvSpPr>
        <p:spPr>
          <a:xfrm>
            <a:off x="9144000" y="546811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Marked inconclusive. No behaviour is invented.</a:t>
            </a:r>
            <a:endParaRPr lang="en-US" sz="1050" dirty="0"/>
          </a:p>
        </p:txBody>
      </p:sp>
      <p:sp>
        <p:nvSpPr>
          <p:cNvPr id="35" name="Text 31"/>
          <p:cNvSpPr txBox="1"/>
          <p:nvPr/>
        </p:nvSpPr>
        <p:spPr>
          <a:xfrm>
            <a:off x="8686800" y="60807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Captured 28 Sep 2026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kern="0" spc="200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ENTERPRISE READINESS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31520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Built to sit inside a bank SOC.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98448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Layered containment around a hostile sample, and exports that plug into existing tools.</a:t>
            </a:r>
            <a:endParaRPr lang="en-US" sz="1400" dirty="0"/>
          </a:p>
        </p:txBody>
      </p:sp>
      <p:pic>
        <p:nvPicPr>
          <p:cNvPr id="5" name="Image 0" descr="D:/Projects/Sudarshan BOI/frontend/logo/SUDARSHAN_LOGO_COLOU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6455664"/>
            <a:ext cx="182880" cy="1828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96112" y="64465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kern="0" spc="1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SUDARSHAN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0424160" y="6446520"/>
            <a:ext cx="11274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</a:t>
            </a: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/  15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640080" y="1783080"/>
            <a:ext cx="5669280" cy="4389120"/>
          </a:xfrm>
          <a:prstGeom prst="roundRect">
            <a:avLst>
              <a:gd name="adj" fmla="val 2917"/>
            </a:avLst>
          </a:prstGeom>
          <a:solidFill>
            <a:srgbClr val="F8FAFC"/>
          </a:solidFill>
          <a:ln w="9525">
            <a:solidFill>
              <a:srgbClr val="BFDBFE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68680" y="1892808"/>
            <a:ext cx="5212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b="1" kern="0" spc="150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868680" y="214884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JWT sessions · RBAC: analyst, soc_lead, admin · lockout · rate limits · audit and export ledger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914400" y="2697480"/>
            <a:ext cx="5120640" cy="3200400"/>
          </a:xfrm>
          <a:prstGeom prst="roundRect">
            <a:avLst>
              <a:gd name="adj" fmla="val 4000"/>
            </a:avLst>
          </a:prstGeom>
          <a:solidFill>
            <a:srgbClr val="EFF6FF"/>
          </a:solidFill>
          <a:ln w="9525">
            <a:solidFill>
              <a:srgbClr val="BFDBF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143000" y="2807208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b="1" kern="0" spc="150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SERVICES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1143000" y="306324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Internal service token · read-only root filesystem · all capabilities dropped · seccomp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1188720" y="3611880"/>
            <a:ext cx="4572000" cy="2011680"/>
          </a:xfrm>
          <a:prstGeom prst="roundRect">
            <a:avLst>
              <a:gd name="adj" fmla="val 6364"/>
            </a:avLst>
          </a:prstGeom>
          <a:solidFill>
            <a:srgbClr val="DBEAFE"/>
          </a:solidFill>
          <a:ln w="9525">
            <a:solidFill>
              <a:srgbClr val="BFDBFE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417320" y="372160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b="1" kern="0" spc="150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SANDBOX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1417320" y="39776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Containment fails closed · ADB gateway choke point · dynamic runs off by default at the gateway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2377440" y="4617720"/>
            <a:ext cx="2194560" cy="713232"/>
          </a:xfrm>
          <a:prstGeom prst="roundRect">
            <a:avLst>
              <a:gd name="adj" fmla="val 12821"/>
            </a:avLst>
          </a:prstGeom>
          <a:solidFill>
            <a:srgbClr val="0F172A"/>
          </a:solidFill>
          <a:ln/>
        </p:spPr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2032" y="4818888"/>
            <a:ext cx="310896" cy="310896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2926080" y="4617720"/>
            <a:ext cx="1600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SAMPLE UNDER TEST</a:t>
            </a:r>
            <a:endParaRPr lang="en-US" sz="1000" dirty="0"/>
          </a:p>
        </p:txBody>
      </p:sp>
      <p:sp>
        <p:nvSpPr>
          <p:cNvPr id="20" name="Text 16"/>
          <p:cNvSpPr txBox="1"/>
          <p:nvPr/>
        </p:nvSpPr>
        <p:spPr>
          <a:xfrm>
            <a:off x="6766560" y="1783080"/>
            <a:ext cx="4782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b="1" kern="0" spc="150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BATCH INTAKE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6739128" y="2075688"/>
            <a:ext cx="4837176" cy="1675987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F172A">
                <a:alpha val="10000"/>
              </a:srgbClr>
            </a:outerShdw>
          </a:effectLst>
        </p:spPr>
      </p:sp>
      <p:pic>
        <p:nvPicPr>
          <p:cNvPr id="22" name="Image 2" descr="C:\Users\sansk\AppData\Local\Temp\claude\D--Projects-Sudarshan-BOI\7ae2fbd2-8d8e-4c16-a005-dd078c20e25b\scratchpad\img\batc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6560" y="2103120"/>
            <a:ext cx="4782312" cy="1621123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6766560" y="3794760"/>
            <a:ext cx="4782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to 50 APKs per batch · FIFO · pause, resume, cancel, retry</a:t>
            </a:r>
            <a:endParaRPr lang="en-US" sz="1050" dirty="0"/>
          </a:p>
        </p:txBody>
      </p:sp>
      <p:sp>
        <p:nvSpPr>
          <p:cNvPr id="24" name="Text 19"/>
          <p:cNvSpPr txBox="1"/>
          <p:nvPr/>
        </p:nvSpPr>
        <p:spPr>
          <a:xfrm>
            <a:off x="6766560" y="4297680"/>
            <a:ext cx="4782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b="1" kern="0" spc="150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SOC EXPORTS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6766560" y="4617720"/>
            <a:ext cx="1545336" cy="347472"/>
          </a:xfrm>
          <a:prstGeom prst="roundRect">
            <a:avLst>
              <a:gd name="adj" fmla="val 15789"/>
            </a:avLst>
          </a:prstGeom>
          <a:solidFill>
            <a:srgbClr val="EFF6FF"/>
          </a:solidFill>
          <a:ln w="9525">
            <a:solidFill>
              <a:srgbClr val="BFDBFE"/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6766560" y="4617720"/>
            <a:ext cx="1545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STIX 2.1</a:t>
            </a:r>
            <a:endParaRPr lang="en-US" sz="1000" dirty="0"/>
          </a:p>
        </p:txBody>
      </p:sp>
      <p:sp>
        <p:nvSpPr>
          <p:cNvPr id="27" name="Shape 22"/>
          <p:cNvSpPr/>
          <p:nvPr/>
        </p:nvSpPr>
        <p:spPr>
          <a:xfrm>
            <a:off x="8385048" y="4617720"/>
            <a:ext cx="1545336" cy="347472"/>
          </a:xfrm>
          <a:prstGeom prst="roundRect">
            <a:avLst>
              <a:gd name="adj" fmla="val 15789"/>
            </a:avLst>
          </a:prstGeom>
          <a:solidFill>
            <a:srgbClr val="EFF6FF"/>
          </a:solidFill>
          <a:ln w="9525">
            <a:solidFill>
              <a:srgbClr val="BFDBFE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8385048" y="4617720"/>
            <a:ext cx="1545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IOC CSV / TXT</a:t>
            </a:r>
            <a:endParaRPr lang="en-US" sz="1000" dirty="0"/>
          </a:p>
        </p:txBody>
      </p:sp>
      <p:sp>
        <p:nvSpPr>
          <p:cNvPr id="29" name="Shape 24"/>
          <p:cNvSpPr/>
          <p:nvPr/>
        </p:nvSpPr>
        <p:spPr>
          <a:xfrm>
            <a:off x="10003536" y="4617720"/>
            <a:ext cx="1545336" cy="347472"/>
          </a:xfrm>
          <a:prstGeom prst="roundRect">
            <a:avLst>
              <a:gd name="adj" fmla="val 15789"/>
            </a:avLst>
          </a:prstGeom>
          <a:solidFill>
            <a:srgbClr val="EFF6FF"/>
          </a:solidFill>
          <a:ln w="9525">
            <a:solidFill>
              <a:srgbClr val="BFDBFE"/>
            </a:solidFill>
            <a:prstDash val="solid"/>
          </a:ln>
        </p:spPr>
      </p:sp>
      <p:sp>
        <p:nvSpPr>
          <p:cNvPr id="30" name="Text 25"/>
          <p:cNvSpPr txBox="1"/>
          <p:nvPr/>
        </p:nvSpPr>
        <p:spPr>
          <a:xfrm>
            <a:off x="10003536" y="4617720"/>
            <a:ext cx="1545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YARA rules</a:t>
            </a:r>
            <a:endParaRPr lang="en-US" sz="1000" dirty="0"/>
          </a:p>
        </p:txBody>
      </p:sp>
      <p:sp>
        <p:nvSpPr>
          <p:cNvPr id="31" name="Shape 26"/>
          <p:cNvSpPr/>
          <p:nvPr/>
        </p:nvSpPr>
        <p:spPr>
          <a:xfrm>
            <a:off x="6766560" y="5056632"/>
            <a:ext cx="1545336" cy="347472"/>
          </a:xfrm>
          <a:prstGeom prst="roundRect">
            <a:avLst>
              <a:gd name="adj" fmla="val 15789"/>
            </a:avLst>
          </a:prstGeom>
          <a:solidFill>
            <a:srgbClr val="EFF6FF"/>
          </a:solidFill>
          <a:ln w="9525">
            <a:solidFill>
              <a:srgbClr val="BFDBFE"/>
            </a:solidFill>
            <a:prstDash val="solid"/>
          </a:ln>
        </p:spPr>
      </p:sp>
      <p:sp>
        <p:nvSpPr>
          <p:cNvPr id="32" name="Text 27"/>
          <p:cNvSpPr txBox="1"/>
          <p:nvPr/>
        </p:nvSpPr>
        <p:spPr>
          <a:xfrm>
            <a:off x="6766560" y="5056632"/>
            <a:ext cx="1545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Suricata / Snort</a:t>
            </a:r>
            <a:endParaRPr lang="en-US" sz="1000" dirty="0"/>
          </a:p>
        </p:txBody>
      </p:sp>
      <p:sp>
        <p:nvSpPr>
          <p:cNvPr id="33" name="Shape 28"/>
          <p:cNvSpPr/>
          <p:nvPr/>
        </p:nvSpPr>
        <p:spPr>
          <a:xfrm>
            <a:off x="8385048" y="5056632"/>
            <a:ext cx="1545336" cy="347472"/>
          </a:xfrm>
          <a:prstGeom prst="roundRect">
            <a:avLst>
              <a:gd name="adj" fmla="val 15789"/>
            </a:avLst>
          </a:prstGeom>
          <a:solidFill>
            <a:srgbClr val="EFF6FF"/>
          </a:solidFill>
          <a:ln w="9525">
            <a:solidFill>
              <a:srgbClr val="BFDBFE"/>
            </a:solidFill>
            <a:prstDash val="solid"/>
          </a:ln>
        </p:spPr>
      </p:sp>
      <p:sp>
        <p:nvSpPr>
          <p:cNvPr id="34" name="Text 29"/>
          <p:cNvSpPr txBox="1"/>
          <p:nvPr/>
        </p:nvSpPr>
        <p:spPr>
          <a:xfrm>
            <a:off x="8385048" y="5056632"/>
            <a:ext cx="1545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MITRE JSON</a:t>
            </a:r>
            <a:endParaRPr lang="en-US" sz="1000" dirty="0"/>
          </a:p>
        </p:txBody>
      </p:sp>
      <p:sp>
        <p:nvSpPr>
          <p:cNvPr id="35" name="Shape 30"/>
          <p:cNvSpPr/>
          <p:nvPr/>
        </p:nvSpPr>
        <p:spPr>
          <a:xfrm>
            <a:off x="10003536" y="5056632"/>
            <a:ext cx="1545336" cy="347472"/>
          </a:xfrm>
          <a:prstGeom prst="roundRect">
            <a:avLst>
              <a:gd name="adj" fmla="val 15789"/>
            </a:avLst>
          </a:prstGeom>
          <a:solidFill>
            <a:srgbClr val="EFF6FF"/>
          </a:solidFill>
          <a:ln w="9525">
            <a:solidFill>
              <a:srgbClr val="BFDBFE"/>
            </a:solidFill>
            <a:prstDash val="solid"/>
          </a:ln>
        </p:spPr>
      </p:sp>
      <p:sp>
        <p:nvSpPr>
          <p:cNvPr id="36" name="Text 31"/>
          <p:cNvSpPr txBox="1"/>
          <p:nvPr/>
        </p:nvSpPr>
        <p:spPr>
          <a:xfrm>
            <a:off x="10003536" y="5056632"/>
            <a:ext cx="1545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PDF dossier</a:t>
            </a:r>
            <a:endParaRPr lang="en-US" sz="1000" dirty="0"/>
          </a:p>
        </p:txBody>
      </p:sp>
      <p:pic>
        <p:nvPicPr>
          <p:cNvPr id="3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6560" y="5715000"/>
            <a:ext cx="256032" cy="256032"/>
          </a:xfrm>
          <a:prstGeom prst="rect">
            <a:avLst/>
          </a:prstGeom>
        </p:spPr>
      </p:pic>
      <p:sp>
        <p:nvSpPr>
          <p:cNvPr id="38" name="Text 32"/>
          <p:cNvSpPr txBox="1"/>
          <p:nvPr/>
        </p:nvSpPr>
        <p:spPr>
          <a:xfrm>
            <a:off x="7114032" y="5650992"/>
            <a:ext cx="4416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 for scale: </a:t>
            </a: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PostgreSQL plus an external broker for horizontal workers (planned).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kern="0" spc="200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STATUS AND ROADMAP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31520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Working today. Clear path to scale.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98448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Implemented features are covered by automated tests. Planned items are labelled as planned.</a:t>
            </a:r>
            <a:endParaRPr lang="en-US" sz="1400" dirty="0"/>
          </a:p>
        </p:txBody>
      </p:sp>
      <p:pic>
        <p:nvPicPr>
          <p:cNvPr id="5" name="Image 0" descr="D:/Projects/Sudarshan BOI/frontend/logo/SUDARSHAN_LOGO_COLOU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6455664"/>
            <a:ext cx="182880" cy="1828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96112" y="64465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kern="0" spc="1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SUDARSHAN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0424160" y="6446520"/>
            <a:ext cx="11274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</a:t>
            </a: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/  15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192024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4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2,841</a:t>
            </a:r>
            <a:endParaRPr lang="en-US" sz="54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27889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automated tests collected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31089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 failures · 28 skipped where a live sandbox is required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40080" y="3794760"/>
            <a:ext cx="28346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0080" y="39319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165</a:t>
            </a:r>
            <a:endParaRPr lang="en-US" sz="3400" dirty="0"/>
          </a:p>
        </p:txBody>
      </p:sp>
      <p:sp>
        <p:nvSpPr>
          <p:cNvPr id="13" name="Text 10"/>
          <p:cNvSpPr txBox="1"/>
          <p:nvPr/>
        </p:nvSpPr>
        <p:spPr>
          <a:xfrm>
            <a:off x="640080" y="45720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 files across backend and engine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023360" y="2011680"/>
            <a:ext cx="379476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818120" y="2011680"/>
            <a:ext cx="3730752" cy="0"/>
          </a:xfrm>
          <a:prstGeom prst="line">
            <a:avLst/>
          </a:prstGeom>
          <a:noFill/>
          <a:ln w="25400">
            <a:solidFill>
              <a:srgbClr val="93C5FD"/>
            </a:solidFill>
            <a:prstDash val="dash"/>
          </a:ln>
        </p:spPr>
      </p:sp>
      <p:sp>
        <p:nvSpPr>
          <p:cNvPr id="16" name="Shape 13"/>
          <p:cNvSpPr/>
          <p:nvPr/>
        </p:nvSpPr>
        <p:spPr>
          <a:xfrm>
            <a:off x="7690104" y="1883664"/>
            <a:ext cx="256032" cy="256032"/>
          </a:xfrm>
          <a:prstGeom prst="ellipse">
            <a:avLst/>
          </a:prstGeom>
          <a:solidFill>
            <a:srgbClr val="2563E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269480" y="157276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kern="0" spc="150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TODAY</a:t>
            </a:r>
            <a:endParaRPr lang="en-US" sz="950" dirty="0"/>
          </a:p>
        </p:txBody>
      </p:sp>
      <p:sp>
        <p:nvSpPr>
          <p:cNvPr id="18" name="Text 15"/>
          <p:cNvSpPr txBox="1"/>
          <p:nvPr/>
        </p:nvSpPr>
        <p:spPr>
          <a:xfrm>
            <a:off x="4023360" y="224028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b="1" kern="0" spc="150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IMPLEMENTED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8092440" y="224028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b="1" kern="0" spc="1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PLANNED</a:t>
            </a:r>
            <a:endParaRPr lang="en-US" sz="1000" dirty="0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3360" y="2651760"/>
            <a:ext cx="274320" cy="274320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4407408" y="26060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Static analysis, APK repair, VIDE</a:t>
            </a:r>
            <a:endParaRPr lang="en-US" sz="1150" dirty="0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3360" y="3163824"/>
            <a:ext cx="274320" cy="274320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4407408" y="311810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Frida 17 sandbox with exact-PID attach</a:t>
            </a:r>
            <a:endParaRPr lang="en-US" sz="1150" dirty="0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3360" y="3675888"/>
            <a:ext cx="274320" cy="27432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4407408" y="363016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Five-level perception explorer</a:t>
            </a:r>
            <a:endParaRPr lang="en-US" sz="1150" dirty="0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3360" y="4187952"/>
            <a:ext cx="274320" cy="27432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4407408" y="414223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Workflow reconstruction + ATT&amp;CK</a:t>
            </a:r>
            <a:endParaRPr lang="en-US" sz="1150" dirty="0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3360" y="4700016"/>
            <a:ext cx="274320" cy="274320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4407408" y="4654296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Deterministic FRS, floors, CH27</a:t>
            </a:r>
            <a:endParaRPr lang="en-US" sz="1150" dirty="0"/>
          </a:p>
        </p:txBody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3360" y="5212080"/>
            <a:ext cx="274320" cy="274320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4407408" y="51663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Grounded Gemini RAG with fallback</a:t>
            </a:r>
            <a:endParaRPr lang="en-US" sz="1150" dirty="0"/>
          </a:p>
        </p:txBody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3360" y="5724144"/>
            <a:ext cx="274320" cy="274320"/>
          </a:xfrm>
          <a:prstGeom prst="rect">
            <a:avLst/>
          </a:prstGeom>
        </p:spPr>
      </p:pic>
      <p:sp>
        <p:nvSpPr>
          <p:cNvPr id="33" name="Text 23"/>
          <p:cNvSpPr txBox="1"/>
          <p:nvPr/>
        </p:nvSpPr>
        <p:spPr>
          <a:xfrm>
            <a:off x="4407408" y="567842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Console, batch scan, STIX 2.1 export</a:t>
            </a:r>
            <a:endParaRPr lang="en-US" sz="1150" dirty="0"/>
          </a:p>
        </p:txBody>
      </p:sp>
      <p:pic>
        <p:nvPicPr>
          <p:cNvPr id="34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2440" y="2651760"/>
            <a:ext cx="274320" cy="274320"/>
          </a:xfrm>
          <a:prstGeom prst="rect">
            <a:avLst/>
          </a:prstGeom>
        </p:spPr>
      </p:pic>
      <p:sp>
        <p:nvSpPr>
          <p:cNvPr id="35" name="Text 24"/>
          <p:cNvSpPr txBox="1"/>
          <p:nvPr/>
        </p:nvSpPr>
        <p:spPr>
          <a:xfrm>
            <a:off x="8476488" y="26060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Horizontal workers on PostgreSQL + broker</a:t>
            </a:r>
            <a:endParaRPr lang="en-US" sz="1150" dirty="0"/>
          </a:p>
        </p:txBody>
      </p:sp>
      <p:pic>
        <p:nvPicPr>
          <p:cNvPr id="36" name="Image 9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2440" y="3163824"/>
            <a:ext cx="274320" cy="274320"/>
          </a:xfrm>
          <a:prstGeom prst="rect">
            <a:avLst/>
          </a:prstGeom>
        </p:spPr>
      </p:pic>
      <p:sp>
        <p:nvSpPr>
          <p:cNvPr id="37" name="Text 25"/>
          <p:cNvSpPr txBox="1"/>
          <p:nvPr/>
        </p:nvSpPr>
        <p:spPr>
          <a:xfrm>
            <a:off x="8476488" y="311810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 device providers (Corellium, Waydroid)</a:t>
            </a:r>
            <a:endParaRPr lang="en-US" sz="1150" dirty="0"/>
          </a:p>
        </p:txBody>
      </p:sp>
      <p:pic>
        <p:nvPicPr>
          <p:cNvPr id="38" name="Image 1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2440" y="3675888"/>
            <a:ext cx="274320" cy="274320"/>
          </a:xfrm>
          <a:prstGeom prst="rect">
            <a:avLst/>
          </a:prstGeom>
        </p:spPr>
      </p:pic>
      <p:sp>
        <p:nvSpPr>
          <p:cNvPr id="39" name="Text 26"/>
          <p:cNvSpPr txBox="1"/>
          <p:nvPr/>
        </p:nvSpPr>
        <p:spPr>
          <a:xfrm>
            <a:off x="8476488" y="363016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Automatic second-stage payload re-analysis</a:t>
            </a:r>
            <a:endParaRPr lang="en-US" sz="1150" dirty="0"/>
          </a:p>
        </p:txBody>
      </p:sp>
      <p:pic>
        <p:nvPicPr>
          <p:cNvPr id="40" name="Image 1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2440" y="4187952"/>
            <a:ext cx="274320" cy="274320"/>
          </a:xfrm>
          <a:prstGeom prst="rect">
            <a:avLst/>
          </a:prstGeom>
        </p:spPr>
      </p:pic>
      <p:sp>
        <p:nvSpPr>
          <p:cNvPr id="41" name="Text 27"/>
          <p:cNvSpPr txBox="1"/>
          <p:nvPr/>
        </p:nvSpPr>
        <p:spPr>
          <a:xfrm>
            <a:off x="8476488" y="414223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Bank baseline corpus beyond 10 institutions</a:t>
            </a:r>
            <a:endParaRPr lang="en-US" sz="1150" dirty="0"/>
          </a:p>
        </p:txBody>
      </p:sp>
      <p:pic>
        <p:nvPicPr>
          <p:cNvPr id="42" name="Image 1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2440" y="4700016"/>
            <a:ext cx="274320" cy="274320"/>
          </a:xfrm>
          <a:prstGeom prst="rect">
            <a:avLst/>
          </a:prstGeom>
        </p:spPr>
      </p:pic>
      <p:sp>
        <p:nvSpPr>
          <p:cNvPr id="43" name="Text 28"/>
          <p:cNvSpPr txBox="1"/>
          <p:nvPr/>
        </p:nvSpPr>
        <p:spPr>
          <a:xfrm>
            <a:off x="8476488" y="465429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Family discovery beyond known families</a:t>
            </a:r>
            <a:endParaRPr lang="en-US" sz="1150" dirty="0"/>
          </a:p>
        </p:txBody>
      </p:sp>
      <p:pic>
        <p:nvPicPr>
          <p:cNvPr id="44" name="Image 1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2440" y="5212080"/>
            <a:ext cx="274320" cy="274320"/>
          </a:xfrm>
          <a:prstGeom prst="rect">
            <a:avLst/>
          </a:prstGeom>
        </p:spPr>
      </p:pic>
      <p:sp>
        <p:nvSpPr>
          <p:cNvPr id="45" name="Text 29"/>
          <p:cNvSpPr txBox="1"/>
          <p:nvPr/>
        </p:nvSpPr>
        <p:spPr>
          <a:xfrm>
            <a:off x="8476488" y="51663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Inter-bank IOC sharing over STIX feeds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b="1" kern="0" spc="150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COMPLETE SYSTEM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868680" y="1417320"/>
            <a:ext cx="731520" cy="731520"/>
          </a:xfrm>
          <a:prstGeom prst="ellipse">
            <a:avLst/>
          </a:prstGeom>
          <a:solidFill>
            <a:srgbClr val="EFF6FF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1600200"/>
            <a:ext cx="365760" cy="3657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22402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kern="0" spc="1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APK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1856232" y="1783080"/>
            <a:ext cx="145390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7" name="Shape 4"/>
          <p:cNvSpPr/>
          <p:nvPr/>
        </p:nvSpPr>
        <p:spPr>
          <a:xfrm>
            <a:off x="2029054" y="1188720"/>
            <a:ext cx="1188720" cy="256032"/>
          </a:xfrm>
          <a:prstGeom prst="roundRect">
            <a:avLst>
              <a:gd name="adj" fmla="val 21429"/>
            </a:avLst>
          </a:prstGeom>
          <a:solidFill>
            <a:srgbClr val="EFF6FF"/>
          </a:solidFill>
          <a:ln w="9525">
            <a:solidFill>
              <a:srgbClr val="BFDBF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2029054" y="118872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STATIC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2029054" y="1499616"/>
            <a:ext cx="1188720" cy="256032"/>
          </a:xfrm>
          <a:prstGeom prst="roundRect">
            <a:avLst>
              <a:gd name="adj" fmla="val 21429"/>
            </a:avLst>
          </a:prstGeom>
          <a:solidFill>
            <a:srgbClr val="EFF6FF"/>
          </a:solidFill>
          <a:ln w="9525">
            <a:solidFill>
              <a:srgbClr val="BFDBF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029054" y="149961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DYNAMIC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2029054" y="1810512"/>
            <a:ext cx="1188720" cy="256032"/>
          </a:xfrm>
          <a:prstGeom prst="roundRect">
            <a:avLst>
              <a:gd name="adj" fmla="val 21429"/>
            </a:avLst>
          </a:prstGeom>
          <a:solidFill>
            <a:srgbClr val="EFF6FF"/>
          </a:solidFill>
          <a:ln w="9525">
            <a:solidFill>
              <a:srgbClr val="BFDBF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029054" y="181051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NETWORK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2029054" y="2121408"/>
            <a:ext cx="1188720" cy="256032"/>
          </a:xfrm>
          <a:prstGeom prst="roundRect">
            <a:avLst>
              <a:gd name="adj" fmla="val 21429"/>
            </a:avLst>
          </a:prstGeom>
          <a:solidFill>
            <a:srgbClr val="EFF6FF"/>
          </a:solidFill>
          <a:ln w="9525">
            <a:solidFill>
              <a:srgbClr val="BFDBF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2029054" y="212140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VISUAL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245206" y="1783080"/>
            <a:ext cx="145390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3646627" y="1417320"/>
            <a:ext cx="731520" cy="731520"/>
          </a:xfrm>
          <a:prstGeom prst="ellipse">
            <a:avLst/>
          </a:prstGeom>
          <a:solidFill>
            <a:srgbClr val="EFF6FF"/>
          </a:solidFill>
          <a:ln/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9507" y="1600200"/>
            <a:ext cx="365760" cy="365760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3326587" y="22402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kern="0" spc="1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EVIDENCE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4634179" y="1783080"/>
            <a:ext cx="145390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20" name="Shape 16"/>
          <p:cNvSpPr/>
          <p:nvPr/>
        </p:nvSpPr>
        <p:spPr>
          <a:xfrm>
            <a:off x="5035601" y="1417320"/>
            <a:ext cx="731520" cy="731520"/>
          </a:xfrm>
          <a:prstGeom prst="ellipse">
            <a:avLst/>
          </a:prstGeom>
          <a:solidFill>
            <a:srgbClr val="EFF6FF"/>
          </a:solidFill>
          <a:ln/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8481" y="1600200"/>
            <a:ext cx="365760" cy="36576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4715561" y="22402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kern="0" spc="1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CORRELATION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6023153" y="1783080"/>
            <a:ext cx="145390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24" name="Shape 19"/>
          <p:cNvSpPr/>
          <p:nvPr/>
        </p:nvSpPr>
        <p:spPr>
          <a:xfrm>
            <a:off x="6424574" y="1417320"/>
            <a:ext cx="731520" cy="731520"/>
          </a:xfrm>
          <a:prstGeom prst="ellipse">
            <a:avLst/>
          </a:prstGeom>
          <a:solidFill>
            <a:srgbClr val="EFF6FF"/>
          </a:solidFill>
          <a:ln/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7454" y="1600200"/>
            <a:ext cx="365760" cy="365760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6104534" y="22402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kern="0" spc="1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FRAUD</a:t>
            </a:r>
            <a:endParaRPr lang="en-US" sz="9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900" b="1" kern="0" spc="1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WORKFLOW</a:t>
            </a:r>
            <a:endParaRPr lang="en-US" sz="900" dirty="0"/>
          </a:p>
        </p:txBody>
      </p:sp>
      <p:sp>
        <p:nvSpPr>
          <p:cNvPr id="27" name="Shape 21"/>
          <p:cNvSpPr/>
          <p:nvPr/>
        </p:nvSpPr>
        <p:spPr>
          <a:xfrm>
            <a:off x="7412126" y="1783080"/>
            <a:ext cx="145390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28" name="Shape 22"/>
          <p:cNvSpPr/>
          <p:nvPr/>
        </p:nvSpPr>
        <p:spPr>
          <a:xfrm>
            <a:off x="7813548" y="1417320"/>
            <a:ext cx="731520" cy="731520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96428" y="1600200"/>
            <a:ext cx="365760" cy="365760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7493508" y="22402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kern="0" spc="1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DETERMINISTIC</a:t>
            </a:r>
            <a:endParaRPr lang="en-US" sz="9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900" b="1" kern="0" spc="1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</a:t>
            </a:r>
            <a:endParaRPr lang="en-US" sz="900" dirty="0"/>
          </a:p>
        </p:txBody>
      </p:sp>
      <p:sp>
        <p:nvSpPr>
          <p:cNvPr id="31" name="Shape 24"/>
          <p:cNvSpPr/>
          <p:nvPr/>
        </p:nvSpPr>
        <p:spPr>
          <a:xfrm>
            <a:off x="8801100" y="1783080"/>
            <a:ext cx="145390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32" name="Shape 25"/>
          <p:cNvSpPr/>
          <p:nvPr/>
        </p:nvSpPr>
        <p:spPr>
          <a:xfrm>
            <a:off x="9202522" y="1417320"/>
            <a:ext cx="731520" cy="731520"/>
          </a:xfrm>
          <a:prstGeom prst="ellipse">
            <a:avLst/>
          </a:prstGeom>
          <a:solidFill>
            <a:srgbClr val="EFF6FF"/>
          </a:solidFill>
          <a:ln/>
        </p:spPr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85402" y="1600200"/>
            <a:ext cx="365760" cy="365760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8882482" y="22402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kern="0" spc="1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AI-ASSISTED</a:t>
            </a:r>
            <a:endParaRPr lang="en-US" sz="9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900" b="1" kern="0" spc="1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INTELLIGENCE</a:t>
            </a:r>
            <a:endParaRPr lang="en-US" sz="900" dirty="0"/>
          </a:p>
        </p:txBody>
      </p:sp>
      <p:sp>
        <p:nvSpPr>
          <p:cNvPr id="35" name="Shape 27"/>
          <p:cNvSpPr/>
          <p:nvPr/>
        </p:nvSpPr>
        <p:spPr>
          <a:xfrm>
            <a:off x="10190074" y="1783080"/>
            <a:ext cx="145390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36" name="Shape 28"/>
          <p:cNvSpPr/>
          <p:nvPr/>
        </p:nvSpPr>
        <p:spPr>
          <a:xfrm>
            <a:off x="10591495" y="1417320"/>
            <a:ext cx="731520" cy="73152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37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774375" y="1600200"/>
            <a:ext cx="365760" cy="365760"/>
          </a:xfrm>
          <a:prstGeom prst="rect">
            <a:avLst/>
          </a:prstGeom>
        </p:spPr>
      </p:pic>
      <p:sp>
        <p:nvSpPr>
          <p:cNvPr id="38" name="Text 29"/>
          <p:cNvSpPr txBox="1"/>
          <p:nvPr/>
        </p:nvSpPr>
        <p:spPr>
          <a:xfrm>
            <a:off x="10271455" y="22402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kern="0" spc="1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SOC</a:t>
            </a:r>
            <a:endParaRPr lang="en-US" sz="9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900" b="1" kern="0" spc="1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ACTION</a:t>
            </a:r>
            <a:endParaRPr lang="en-US" sz="900" dirty="0"/>
          </a:p>
        </p:txBody>
      </p:sp>
      <p:sp>
        <p:nvSpPr>
          <p:cNvPr id="39" name="Shape 30"/>
          <p:cNvSpPr/>
          <p:nvPr/>
        </p:nvSpPr>
        <p:spPr>
          <a:xfrm>
            <a:off x="640080" y="3063240"/>
            <a:ext cx="1091153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pic>
        <p:nvPicPr>
          <p:cNvPr id="40" name="Image 7" descr="D:/Projects/Sudarshan BOI/frontend/logo/SUDARSHAN_LOGO_COLOUR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74520" y="3566160"/>
            <a:ext cx="2011680" cy="2011680"/>
          </a:xfrm>
          <a:prstGeom prst="rect">
            <a:avLst/>
          </a:prstGeom>
        </p:spPr>
      </p:pic>
      <p:sp>
        <p:nvSpPr>
          <p:cNvPr id="41" name="Text 31"/>
          <p:cNvSpPr txBox="1"/>
          <p:nvPr/>
        </p:nvSpPr>
        <p:spPr>
          <a:xfrm>
            <a:off x="4206240" y="361188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000" b="1" kern="0" spc="4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SUDARSHAN</a:t>
            </a:r>
            <a:endParaRPr lang="en-US" sz="6000" dirty="0"/>
          </a:p>
        </p:txBody>
      </p:sp>
      <p:sp>
        <p:nvSpPr>
          <p:cNvPr id="42" name="Text 32"/>
          <p:cNvSpPr txBox="1"/>
          <p:nvPr/>
        </p:nvSpPr>
        <p:spPr>
          <a:xfrm>
            <a:off x="4206240" y="46177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suspicious APK to actionable fraud intelligence.</a:t>
            </a:r>
            <a:endParaRPr lang="en-US" sz="2200" dirty="0"/>
          </a:p>
        </p:txBody>
      </p:sp>
      <p:sp>
        <p:nvSpPr>
          <p:cNvPr id="43" name="Text 33"/>
          <p:cNvSpPr txBox="1"/>
          <p:nvPr/>
        </p:nvSpPr>
        <p:spPr>
          <a:xfrm>
            <a:off x="4206240" y="521208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Evidence-backed · deterministically scored · explained for the analyst</a:t>
            </a:r>
            <a:endParaRPr lang="en-US" sz="1300" dirty="0"/>
          </a:p>
        </p:txBody>
      </p:sp>
      <p:pic>
        <p:nvPicPr>
          <p:cNvPr id="44" name="Image 8" descr="D:/Projects/Sudarshan BOI/frontend/logo/SUDARSHAN_LOGO_COLOUR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0080" y="6455664"/>
            <a:ext cx="182880" cy="182880"/>
          </a:xfrm>
          <a:prstGeom prst="rect">
            <a:avLst/>
          </a:prstGeom>
        </p:spPr>
      </p:pic>
      <p:sp>
        <p:nvSpPr>
          <p:cNvPr id="45" name="Text 34"/>
          <p:cNvSpPr txBox="1"/>
          <p:nvPr/>
        </p:nvSpPr>
        <p:spPr>
          <a:xfrm>
            <a:off x="896112" y="64465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kern="0" spc="1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SUDARSHAN</a:t>
            </a:r>
            <a:endParaRPr lang="en-US" sz="900" dirty="0"/>
          </a:p>
        </p:txBody>
      </p:sp>
      <p:sp>
        <p:nvSpPr>
          <p:cNvPr id="46" name="Text 35"/>
          <p:cNvSpPr txBox="1"/>
          <p:nvPr/>
        </p:nvSpPr>
        <p:spPr>
          <a:xfrm>
            <a:off x="10424160" y="6446520"/>
            <a:ext cx="11274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</a:t>
            </a: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/  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egoe U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1697</Words>
  <Application>Microsoft Office PowerPoint</Application>
  <PresentationFormat>Widescreen</PresentationFormat>
  <Paragraphs>456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Consolas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SUDARSHAN</dc:title>
  <dc:subject>PptxGenJS Presentation</dc:subject>
  <dc:creator>SUDARSHAN team</dc:creator>
  <cp:lastModifiedBy>Sanskar Tiwari</cp:lastModifiedBy>
  <cp:revision>3</cp:revision>
  <dcterms:created xsi:type="dcterms:W3CDTF">2026-09-28T16:56:03Z</dcterms:created>
  <dcterms:modified xsi:type="dcterms:W3CDTF">2026-09-28T16:59:54Z</dcterms:modified>
</cp:coreProperties>
</file>