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darshan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05840" cy="9243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0" y="1143000"/>
            <a:ext cx="2560320" cy="29260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3C5FD"/>
                </a:solidFill>
                <a:latin typeface="Calibri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Calibri"/>
              </a:defRPr>
            </a:pPr>
            <a:r>
              <a:t>SUDARSHAN</a:t>
            </a:r>
          </a:p>
          <a:p>
            <a:pPr>
              <a:defRPr sz="1900" b="1">
                <a:solidFill>
                  <a:srgbClr val="93C5FD"/>
                </a:solidFill>
                <a:latin typeface="Calibri"/>
              </a:defRPr>
            </a:pPr>
            <a:r>
              <a:t>Enterprise Android Banking Malware Analysis and Fraud Intelligence Platform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Bridging the intelligence translation gap from raw Android bytecode to court-admissible, deterministic fraud verdicts and explainable SOC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24231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224528"/>
            <a:ext cx="2148840" cy="11521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DETERMINISTIC VERDICT</a:t>
            </a:r>
          </a:p>
          <a:p>
            <a:pPr>
              <a:defRPr sz="1400" b="1">
                <a:solidFill>
                  <a:srgbClr val="38BDF8"/>
                </a:solidFill>
              </a:defRPr>
            </a:pPr>
            <a:r>
              <a:t>0 to 100 FRS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Mathematical risk engine; AI never computes raw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72" y="4114800"/>
            <a:ext cx="24231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4224528"/>
            <a:ext cx="2148840" cy="11521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AGENTIC EXPLORATION</a:t>
            </a:r>
          </a:p>
          <a:p>
            <a:pPr>
              <a:defRPr sz="1400" b="1">
                <a:solidFill>
                  <a:srgbClr val="93C5FD"/>
                </a:solidFill>
              </a:defRPr>
            </a:pPr>
            <a:r>
              <a:t>5-Level Perception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Automated bypass of OTP, login, and anti-analysis traps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4114800"/>
            <a:ext cx="24231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2824" y="4224528"/>
            <a:ext cx="2148840" cy="11521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VIDE BRAND DEFENSE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4-Axis Detection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Identifies cloned Indian bank apps prior to credential theft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34856" y="4114800"/>
            <a:ext cx="242316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2016" y="4224528"/>
            <a:ext cx="2148840" cy="11521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ENTERPRISE READY</a:t>
            </a:r>
          </a:p>
          <a:p>
            <a:pPr>
              <a:defRPr sz="1400" b="1">
                <a:solidFill>
                  <a:srgbClr val="FBBF24"/>
                </a:solidFill>
              </a:defRPr>
            </a:pPr>
            <a:r>
              <a:t>2,841 Tests Passing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Tested across 165 test suites with 100% pass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607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Target Focus: Protecting Indian Banking Infrastructure (Bank of India, SBI, PNB, ICICI, HDFC) from Android Trojans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Problem: The Mobile Threat Intelligence Translation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Why conventional malware tools fail against modern Android banking trojans and leave SOC teams blind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2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3456432" cy="1554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737360"/>
            <a:ext cx="73152" cy="1554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20"/>
            <a:ext cx="3136392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1. Deceptive Payloads &amp; Evasion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Banking trojans (Drinik, Xenomorph, Hydra, Anubis) use dynamic DEX loading, reflection, and encrypted strings. Static analysis sees only generic packers, missing malicious runtime logic entirely.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37360"/>
            <a:ext cx="3456432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1737360"/>
            <a:ext cx="73152" cy="1554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74520"/>
            <a:ext cx="3136392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2. The Intelligence Translation Gap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Raw tooling emits thousands of disjointed events (SMS permissions, Accessibility flags, socket connections). SOC analysts are overwhelmed and lack the causal link proving fraud intent.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737360"/>
            <a:ext cx="3456432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1737360"/>
            <a:ext cx="73152" cy="1554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1874520"/>
            <a:ext cx="3136392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3. Uncontrolled AI Hallucination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</a:defRPr>
            </a:pPr>
            <a:r>
              <a:t>Generic LLMs used in security tools invent CVEs, fabricate risk scores, and hallucinate behaviors. Financial compliance requires deterministic, court-admissible mathematical proof.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8655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118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EXECUTION COMPARISON : TRADITIONAL TOOLS VS. SUDARSHAN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77639"/>
            <a:ext cx="201168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Analysis Dimension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77639"/>
            <a:ext cx="292608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Conventional Sandbox / AV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977639"/>
            <a:ext cx="329184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SUDARSHAN Enterprise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977639"/>
            <a:ext cx="2011680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Operational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43400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Static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343400"/>
            <a:ext cx="2926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Decompilation dumps and raw permission 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343400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VIDE 4-Axis Visual Impersonation and auto-repaired 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343400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Catches fake bank lookalikes immediately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690872"/>
            <a:ext cx="1045433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727448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Dynamic Sandbox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727448"/>
            <a:ext cx="2926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Blind 30s timeout; fails on OTP/login screens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727448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5-Level Agentic Explorer with synthetic credential dispatch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727448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Achieves deep multi-screen state exploration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111496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Telemetry Correlation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111496"/>
            <a:ext cx="2926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Isolated event logs requiring manual grep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5111496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Causal Workflow Reconstruction with MITRE ATT&amp;CK mapping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5111496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Reconstructs complete fraud attack sequences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5458968"/>
            <a:ext cx="10454335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495544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Scoring Authority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495544"/>
            <a:ext cx="2926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Subjective CVSS or hallucinated AI scores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7880" y="5495544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Deterministic Fraud Risk Score (FRS 0-100) with 4 Safety Floors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5495544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Court-admissible, fully auditable risk metric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879592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F172A"/>
                </a:solidFill>
              </a:defRPr>
            </a:pPr>
            <a:r>
              <a:t>SOC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879592"/>
            <a:ext cx="2926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Unstructured JSON reports; slow triage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5879592"/>
            <a:ext cx="32918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Evidence-grounded RAG Dossiers and STIX 2.1 / MISP feeds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879592"/>
            <a:ext cx="2011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Accelerates incident triage from hours to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PLATFORM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What is SUDARSHAN? The Four-Pillar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 purpose-built fraud intelligence platform translating raw artifacts into court-admissible banking defense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3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2542032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10512"/>
            <a:ext cx="22677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F2FE"/>
                </a:solidFill>
              </a:defRPr>
            </a:pPr>
            <a:r>
              <a:t>PILLAR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975104"/>
            <a:ext cx="22677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Multi-Source Evidence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37744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Dual-Engine Static Analysis: MobSF rules + Androguard AST decomposition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APK Structure Repair: Auto-heals corrupted ZIP headers and manifests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VIDE Impersonation Engine: Detects fake Indian banking app lookalikes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IOC Reputation Feeds: 24h cached VT, AlienVault OTX, AbuseIPDB lookup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737360"/>
            <a:ext cx="25420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1810512"/>
            <a:ext cx="22677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F2FE"/>
                </a:solidFill>
              </a:defRPr>
            </a:pPr>
            <a:r>
              <a:t>PILLAR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1975104"/>
            <a:ext cx="22677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Deep Dynamic Exploration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37744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PID-Accurate Early Hooking: Injects Frida bundle prior to native library init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- 5-Level Perception Loop: XML hierarchy, Activity state, Frida, Logcat, Vision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Autonomous Obstacle Dispatcher: Auto-fills OTPs, pins, and login forms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Anti-Analysis Evasion Bypasses: Transparent stubs mask tracerpid and root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737360"/>
            <a:ext cx="2542032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1810512"/>
            <a:ext cx="22677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F2FE"/>
                </a:solidFill>
              </a:defRPr>
            </a:pPr>
            <a:r>
              <a:t>PILLAR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1975104"/>
            <a:ext cx="22677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Deterministic Risk 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237744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Mathematical FRS Engine: 0-100 score combining STEI, BFCI v2, and Impact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- 4 Non-Bypassable Safety Floors: Enforces minimum risk for stealth and evasion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CH27 Fraud Triad Escalation: Cloned layout + Cert mismatch + Accessibility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Absolute Zero AI Risk Bias: Code-level rule authority governs final verdict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6256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06256" y="1737360"/>
            <a:ext cx="2542032" cy="502920"/>
          </a:xfrm>
          <a:prstGeom prst="rect">
            <a:avLst/>
          </a:prstGeom>
          <a:solidFill>
            <a:srgbClr val="109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1810512"/>
            <a:ext cx="226771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F2FE"/>
                </a:solidFill>
              </a:defRPr>
            </a:pPr>
            <a:r>
              <a:t>PILLAR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1975104"/>
            <a:ext cx="22677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Evidence-Constrained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37744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Google Gemini 2.5 Flash RAG: Natural language explanation strictly on indexed facts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- 3-State Circuit Breaker: Instant fallback if API limits or errors occur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Automated Investigation Dossier: 7-section structured executive report</a:t>
            </a:r>
          </a:p>
          <a:p>
            <a:pPr>
              <a:spcBef>
                <a:spcPts val="1000"/>
              </a:spcBef>
              <a:defRPr sz="900">
                <a:solidFill>
                  <a:srgbClr val="334155"/>
                </a:solidFill>
              </a:defRPr>
            </a:pPr>
            <a:r>
              <a:t>- Enterprise SOC Export: STIX 2.1 bundles, MISP feeds, and signed evidence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Complete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Modular, strictly bounded, and tamper-resistant architecture engineered for high-throughput banking SOCs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4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2377440" cy="8412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1. Presentation &amp; Analyst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847088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920240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React 18 / Vite SPA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Clean White/Blue Theme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76672" y="1847088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1920240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Tailwind CSS + Lucide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Responsive UI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1847088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1920240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Role-Based Access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Admin / SOC Lead / Analyst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6336" y="1847088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1920240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Evidence Registry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Searchable finding 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8833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688336"/>
            <a:ext cx="2377440" cy="8412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916936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2. API Gateway &amp;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798064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871216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FastAPI Gateway (:8000)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Strict CORS &amp; Rate Limiting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76672" y="2798064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8112" y="2871216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JWT Auth Engine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Stateless analyst sessions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1504" y="2798064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2871216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Durable Queue &amp; Workers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Resilient async batching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6336" y="2798064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7776" y="2871216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SQLite WAL Store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Forensic persistence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3931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639312"/>
            <a:ext cx="2377440" cy="8412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867912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3. Dual-Engine Analysis Foundation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749040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822192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Static Decompilation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Androguard + MobSF rules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6672" y="3749040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3822192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VIDE Engine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AST, Color &amp; String Matching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61504" y="3749040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3822192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Android AVD Sandbox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Hardened emulator container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6336" y="3749040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37776" y="3822192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Frida Dynamic Bundle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Early PID hook instrumentation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59028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4590288"/>
            <a:ext cx="2377440" cy="8412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818888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4. Intelligence &amp; Correlation Engine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1840" y="4700016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4773168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Runtime Event Bus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High-speed telemetry broker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76672" y="4700016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68112" y="4773168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Threat Correlator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VT, OTX, AbuseIPDB (24h TTL)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61504" y="4700016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4773168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Workflow Reconstructor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Causal attack chain builder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46336" y="4700016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37776" y="4773168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MITRE ATT&amp;CK Mapping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Mobile fraud technique tags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54126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5541264"/>
            <a:ext cx="2377440" cy="8412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769864"/>
            <a:ext cx="21945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5. Deterministic Scoring &amp; AI Explanation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1840" y="5650992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5724144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STEI Engine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5-axis static exposure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76672" y="5650992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5724144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BFCI v2 Engine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7 behavioral fraud axes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61504" y="5650992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52944" y="5724144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4 Safety Floors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Stealth &amp; evasion bounds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46336" y="5650992"/>
            <a:ext cx="19202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5724144"/>
            <a:ext cx="173736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Gemini 2.5 Flash RAG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Evidence-constrained narrative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End-to-End Analysis Pipeline: From APK to Court-Admissible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Six sequential, strictly bounded analysis stages executing with automated failovers and complete auditability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5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16459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Intake &amp; Header Repair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Validates APK structure, hashes SHA-256, extracts signing certificates, and auto-heals corrupted central directories.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zipfile, androguard, apktool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1965960"/>
            <a:ext cx="128016" cy="2743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42032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42032" y="1737360"/>
            <a:ext cx="164592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Static Decompilation &amp; VIDE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Decompiles DEX bytecode into smali and Java AST. VIDE detects visual brand cloning across 10 protected Indian banks.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Androguard, MobSF, RapidFuzz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1965960"/>
            <a:ext cx="128016" cy="2743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2544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2544" y="1737360"/>
            <a:ext cx="164592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Dynamic Detonation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Boots APK in instrumented Android sandbox. Injects Frida banking trojan bundle at spawn time before anti-root loads.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Android AVD, ADB, Frida hook bundle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1965960"/>
            <a:ext cx="128016" cy="2743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63056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1737360"/>
            <a:ext cx="164592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Deep Agentic Exploration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5-level perception loop navigates UI barriers, automatically bypassing login screens, OTP prompts, and permission dialogs.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Agentic Explorer, OCR vision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7264" y="1965960"/>
            <a:ext cx="128016" cy="2743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73568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3568" y="1737360"/>
            <a:ext cx="164592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Causal Workflow Reconstruction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Correlates raw runtime events through causal chain rules into an end-to-end multi-stage fraud attack sequence.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WorkflowReconstructor, MITRE ATT&amp;CK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37776" y="1965960"/>
            <a:ext cx="128016" cy="27432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84080" y="1737360"/>
            <a:ext cx="1645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84080" y="1737360"/>
            <a:ext cx="1645920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181051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2240280"/>
            <a:ext cx="14630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Deterministic Scoring &amp; RAG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017520"/>
            <a:ext cx="146304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FRS calculator enforces 4 safety floors. Gemini 2.5 Flash RAG synthesizes an evidence-grounded threat dossier.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7232" y="5166360"/>
            <a:ext cx="1499616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700" b="1">
                <a:solidFill>
                  <a:srgbClr val="1E3A8A"/>
                </a:solidFill>
              </a:defRPr>
            </a:pPr>
            <a:r>
              <a:t>CORE ENGINES: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RiskEngine, Gemini 2.5 Flash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STATIC INTELLIGENCE &amp; 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Static Threat Intelligence &amp; Visual Impersonation (VIDE)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Unmasking fake banking apps, credential stealers, and phishing overlays prior to sandbox execution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6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STATIC DECOMPILATION &amp; THREAT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Resilient Header Repair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Auto-repairs manipulated APK ZIP headers, truncated manifests, and obfuscated string pools used to crash standard analysis tools.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0896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DEX &amp; Smali AST Analysis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Parses classes, methods, and reflection calls; identifies hidden dynamic DEX loaders, native dropper binaries, and packing signatures.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Permission &amp; Component Profiling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Flags 127 high-risk Android permissions (Accessibility, System Alert Window, Read/Send SMS, Query All Packages) and hidden receivers.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7200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External Threat Feeds (24h Cache)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Hashes, domains, and IP endpoints are correlated against VirusTotal, AlienVault OTX, and AbuseIPDB with SQLite caching to conserve quota.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0352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STEI Calculation (0 to 100)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Combines Credential Theft (60%), Banking Targeting (20%), Permission Risk (10%), Obfuscation (5%), and Infrastructure Risk (5%).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737360"/>
            <a:ext cx="53336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VIDE: VISUAL IMPERSONATION DETECTION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377440"/>
            <a:ext cx="48463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50592"/>
            <a:ext cx="457200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1. Layout View AST Distance (Threshold: 0.20)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Decompiles layout XML into an Abstract Syntax Tree. Compares view hierarchy structures against official banking templates.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127248"/>
            <a:ext cx="48463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457200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2. CIEDE2000 Color Vector Distance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Calculates perceptual color difference Delta-E across dominant palette vectors to detect fake banking theme color clones.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877056"/>
            <a:ext cx="48463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50208"/>
            <a:ext cx="457200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284C7"/>
                </a:solidFill>
              </a:defRPr>
            </a:pPr>
            <a:r>
              <a:t>3. RapidFuzz String Similarity (Threshold: 82.0)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Token-based string matching detects typosquatting and deceptive brand names across app labels and package identifiers.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626864"/>
            <a:ext cx="484632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700016"/>
            <a:ext cx="457200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4. Protected Signer Registry (10 Indian Banks)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Maintains cryptographically verified SHA-256 signer certificates for Bank of India, SBI, PNB, ICICI, HDFC, Axis, and others.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440680"/>
            <a:ext cx="4846320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486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CRITICAL DETECTION OUTCOME :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Visual clone match (&gt;0.85) + Signer Certificate Mismatch activates CH27 Fraud Triad escalation (FRS &gt;= 95).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DYNAMIC DETONATION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Dynamic Analysis &amp; Deep Agentic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Autonomous sandbox execution powered by PID-accurate early hooking and 5-level perception navigation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7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67665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6309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SANDBOX ORCHESTRATION &amp; FRIDA INSTRUMENTATION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63093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Early PID Hook Injection (banking_trojan.bundle.js)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Frida attaches at process spawn time prior to native library initialization, neutralizing anti-analysis routines that attempt to terminate the app upon detecting ptrace or frida-server.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91839"/>
            <a:ext cx="63093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ART Runtime Deoptimization &amp; Universal SSL Bypass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Deoptimizes JIT-compiled methods to ensure all sensitive banking API calls trigger hooks; neutralizes certificate pinning across OkHttp3, TrustManager, and Conscrypt.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63093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- 5-Level Perception Hierarchy Loop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Level 1: Native Accessibility XML hierarchy dump (sub-second UI parsing)</a:t>
            </a:r>
            <a:br/>
            <a:r>
              <a:t>Level 2: Activity Manager state and focused window detection</a:t>
            </a:r>
            <a:br/>
            <a:r>
              <a:t>Level 3: Frida method invocation hooks and dynamic event interception</a:t>
            </a:r>
            <a:br/>
            <a:r>
              <a:t>Level 4: Real-time Android Window Manager and Logcat error telemetry</a:t>
            </a:r>
            <a:br/>
            <a:r>
              <a:t>Level 5: Computer Vision / OCR fallback when views are obfuscated or rendered in WebViews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80"/>
            <a:ext cx="630936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Directed Screen Graph Exploration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Maintains a state transition graph of discovered screens to eliminate infinite loops; dynamically schedules interactions to maximize code coverage within a 130s adaptive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737360"/>
            <a:ext cx="37792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92024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REAL SANDBOX RUNTIME CAPTURE</a:t>
            </a:r>
          </a:p>
        </p:txBody>
      </p:sp>
      <p:pic>
        <p:nvPicPr>
          <p:cNvPr id="19" name="Picture 18" descr="0002_state_state-001_bank_lo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286000"/>
            <a:ext cx="1600200" cy="355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60" y="5623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Screen 1: Bank Login Form</a:t>
            </a:r>
            <a:br/>
            <a:r>
              <a:t>(Automated test credentials)</a:t>
            </a:r>
          </a:p>
        </p:txBody>
      </p:sp>
      <p:pic>
        <p:nvPicPr>
          <p:cNvPr id="21" name="Picture 20" descr="0003_Runtime_permission_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286000"/>
            <a:ext cx="1600200" cy="3556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46920" y="56235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Screen 2: Permission Trap</a:t>
            </a:r>
            <a:br/>
            <a:r>
              <a:t>(Accessibility abuse bypass)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OBSTACLE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Handling Real-World Banking App Obstacles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Automated perception and dispatch mechanisms breaking through complex barriers that stall traditional sandboxes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8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3456432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3456432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792224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Login &amp; Credential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76272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Banking malware pauses execution until user inputs valid credentials.</a:t>
            </a:r>
            <a:br/>
            <a:r>
              <a:t>SUDARSHAN Solution: Synthetic Credential Dispatcher detects input fields and injects plausible test identities, triggering subsequent fraud logic.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37360"/>
            <a:ext cx="3456432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37360"/>
            <a:ext cx="345643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792224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OTP &amp; SMS 2FA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176272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App stalls waiting for an incoming carrier SMS verification code.</a:t>
            </a:r>
            <a:br/>
            <a:r>
              <a:t>SUDARSHAN Solution: Virtual SMS Gateway simulates incoming OTP messages via ADB, directly firing the malware's SMS interception receivers.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1737360"/>
            <a:ext cx="3456432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737360"/>
            <a:ext cx="3456432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1792224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Custom M-PIN &amp; Number Pads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2176272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Scrambled on-screen custom PIN keypads prevent text input injection.</a:t>
            </a:r>
            <a:br/>
            <a:r>
              <a:t>SUDARSHAN Solution: OCR coordinate mapper detects numeric keypad bounding boxes and coordinates randomized tap sequences.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39"/>
            <a:ext cx="3456432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977639"/>
            <a:ext cx="3456432" cy="3474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032503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Runtime Permission Dialogs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16551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System popups block app until user grants Accessibility or SMS access.</a:t>
            </a:r>
            <a:br/>
            <a:r>
              <a:t>SUDARSHAN Solution: Auto-Grant Dispatcher monitors system dialog windows and programmatically clicks 'Allow' or activates accessibility services.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977639"/>
            <a:ext cx="3456432" cy="2057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3977639"/>
            <a:ext cx="345643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032503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Phishing Overlays &amp; WebViews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416551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Trojan hides malicious payload inside an overlay WebView or sub-domain.</a:t>
            </a:r>
            <a:br/>
            <a:r>
              <a:t>SUDARSHAN Solution: Multi-Window Monitor intercepts TYPE_APPLICATION_OVERLAY, extracts rendered HTML, and captures phishing form targets.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977639"/>
            <a:ext cx="3456432" cy="2057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3977639"/>
            <a:ext cx="345643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4032503"/>
            <a:ext cx="32369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Anti-Analysis &amp; Sandbox Checks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4416551"/>
            <a:ext cx="3182112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Challenge: Malware detects emulator files (qemu, build props), root (su), or Frida.</a:t>
            </a:r>
            <a:br/>
            <a:r>
              <a:t>SUDARSHAN Solution: Stealth Frida Stubs spoof device fingerprint, hide open ports, and mask tracerpid, ensuring malware executes 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WORKFLOW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From Runtime Events to Fraud Intelligence: Causal Workflow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Converting thousands of disjointed hook logs into coherent, causal banking fraud attack sequences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9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47088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THE RECONSTRUCTION ADVANTAGE : SINGLE INDICATOR VS. COMPLETE ATTACK CHAIN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Conventional sandboxes output disconnected event logs: an SMS read event, an accessibility flag, a socket send. In isolation, any one event could be benign. SUDARSHAN's WorkflowReconstructor engine correlates events across time and causal dependencies, proving malicious attack progression with mathematical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2542032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STAGE 1: SERVICE ACTIVATION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749040"/>
            <a:ext cx="2322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Accessibility Hijack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MITRE ATT&amp;CK: T1417 (Input Capture)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2322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App tricks user or auto-clicks to enable Accessibility Service; starts monitoring window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24612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6432" y="3246120"/>
            <a:ext cx="2542032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33192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STAGE 2: OVERLAY PHISHING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749040"/>
            <a:ext cx="2322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Fake Banking Surface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MITRE ATT&amp;CK: T1411 (Overlay Phishing)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80560"/>
            <a:ext cx="2322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Detects launch of genuine banking app; immediately draws full-screen fake login overlay on 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24612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344" y="3246120"/>
            <a:ext cx="2542032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33192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STAGE 3: 2FA INTERCEPTION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749040"/>
            <a:ext cx="2322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SMS OTP Theft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MITRE ATT&amp;CK: T1412 (SMS Capture)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480560"/>
            <a:ext cx="2322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Intercepts incoming SMS broadcast, suppresses notification, extracts 6-digit OTP from message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3246120"/>
            <a:ext cx="254203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06256" y="3246120"/>
            <a:ext cx="2542032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319272"/>
            <a:ext cx="2359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STAGE 4: C2 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749040"/>
            <a:ext cx="2322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Credential Transmission</a:t>
            </a:r>
          </a:p>
          <a:p>
            <a:pPr>
              <a:defRPr sz="800" b="1">
                <a:solidFill>
                  <a:srgbClr val="1E3A8A"/>
                </a:solidFill>
              </a:defRPr>
            </a:pPr>
            <a:r>
              <a:t>MITRE ATT&amp;CK: T1437 (C2 Protocol)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480560"/>
            <a:ext cx="2322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Transmits harvested login credentials, OTP, and device identity to malicious C2 server over HTTPS.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Deterministic Risk Engine: Mathematical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Guaranteed, auditable, and court-admissible risk scoring where AI is prohibited from computing verdicts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10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FRAUD RISK SCORE (FRS) FORMULA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286000"/>
            <a:ext cx="466344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31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Consolas"/>
              </a:defRPr>
            </a:pPr>
            <a:r>
              <a:t>FRS = 0.25*STEI + 0.35*BFCI + 0.20*Correlation + 0.20*BankingImpact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6324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- STEI (Static Threat Exposure Index)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0.60*CT + 0.20*BT + 0.10*PR + 0.05*OB + 0.05*IR</a:t>
            </a:r>
            <a:br/>
            <a:r>
              <a:t>Weights credential theft and targeting over generic permissions.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9476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- BFCI v2 (Behavioral Confidence Index)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7 behavioral axes: Accessibility (0.315), SMS Intercept (0.225), Overlay Phishing (0.180), Bank Target (0.090), Code Exec (0.100), Network (0.045), Persistence (0.045).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- Threat Correlation Score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External IP/Domain/Hash matches from VT, AlienVault OTX, AbuseIPDB.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46634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0F172A"/>
                </a:solidFill>
              </a:defRPr>
            </a:pPr>
            <a:r>
              <a:t>- Targeted Banking Impact Score</a:t>
            </a:r>
          </a:p>
          <a:p>
            <a:pPr>
              <a:defRPr sz="800">
                <a:solidFill>
                  <a:srgbClr val="334155"/>
                </a:solidFill>
              </a:defRPr>
            </a:pPr>
            <a:r>
              <a:t>Direct targeting of Indian financial entities (BOI, SBI, UPI protocols).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737360"/>
            <a:ext cx="53336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NON-BYPASSABLE SAFETY FLOORS &amp; FRAUD TRIAD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331720"/>
            <a:ext cx="4846320" cy="5852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86584"/>
            <a:ext cx="457200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1. Visibility Safety Floor (Min FRS: 60)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If app hides launcher icon or operates stealthily without user visibility, score cannot drop below 60.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90087"/>
            <a:ext cx="4846320" cy="5852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44951"/>
            <a:ext cx="457200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EA580C"/>
                </a:solidFill>
              </a:defRPr>
            </a:pPr>
            <a:r>
              <a:t>2. Static Evidence Floor (Min FRS: 70)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Verified banking trojan signatures or hardcoded phishing overlays guarantee High/Critical risk floor.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48456"/>
            <a:ext cx="4846320" cy="5852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457200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E7490"/>
                </a:solidFill>
              </a:defRPr>
            </a:pPr>
            <a:r>
              <a:t>3. Evasion Safety Floor (Min FRS: 65)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Active anti-analysis, ptrace detection, or environment tampering enforces minimum suspicious floor.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306824"/>
            <a:ext cx="4846320" cy="58521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361688"/>
            <a:ext cx="4572000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4. Execution Assertions Floor (Min FRS: 85)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Observed credential scraping or overlay injection forces score to minimum 85 regardless of other weights.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5074920"/>
            <a:ext cx="4846320" cy="960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38928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THE CH27 ON-DEVICE FRAUD TRIAD ESCALATION :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High Visual Clone (&gt;0.85) + Signer Cert Mismatch + Accessibility Abuse (BIND_ACCESSIBILITY_SERVICE)</a:t>
            </a:r>
            <a:br/>
            <a:r>
              <a:t>==&gt; Immediate Hard Escalation to FRS &gt;= 95 (CRITICAL RISK)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AI INVESTIGATION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AI + RAG + Evidence-Constrained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Leveraging Google Gemini 2.5 Flash for rapid incident investigation without ever touching deterministic risk scoring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11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STRICT ARCHITECTURAL AI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77440"/>
            <a:ext cx="466344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AI is an Explainability Engine, NEVER a Calculator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Gemini 2.5 Flash synthesizes technical findings into natural language explanations. It has zero authority to calculate, modify, or override the deterministic FRS score or risk band.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466344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Evidence-Constrained RAG Pipeline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The LLM context window is populated exclusively with structured, verified evidence records from SQLite EvidenceStore. It answers only from indexed facts, citing exact Record IDs.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42816"/>
            <a:ext cx="466344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- 3-State Circuit Breaker Resilience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State 1: Normal (Live Gemini Flash streaming)</a:t>
            </a:r>
            <a:br/>
            <a:r>
              <a:t>State 2: Degraded (Rate limit or timeout detected)</a:t>
            </a:r>
            <a:br/>
            <a:r>
              <a:t>State 3: Tripped (Instant failover to deterministic rule narrative template; zero downtime)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75504"/>
            <a:ext cx="4663440" cy="8412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- Prompt Injection Defense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</a:defRPr>
            </a:pPr>
            <a:r>
              <a:t>Sanitizes all untrusted strings extracted from APK manifests, activity labels, and certificate metadata to prevent indirect prompt injection attacks.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737360"/>
            <a:ext cx="53336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7-SECTION STRUCTURED INVESTIGATION DOSSIER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331720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68296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1: Executive Fraud Summary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Plain-English verdict narrative summarizing malware intent, impact, and confidence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862072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98648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2: Malware Family Attribution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Correlates behavioral signatures with known banking families (Hydra, Anubis, Xenomorph).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392424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3: Behavioral Attack Timeline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Step-by-step chronological progression of actions executed in the sandbox.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922775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59351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4: Targeted Financial Entities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Explicit list of Indian banks, UPI packages, and payment apps targeted for credential theft.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453127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489703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5: Compromised Permissions &amp; Data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Inventory of stolen SMS tokens, Accessibility screen scrapes, and contact dumps.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983479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20055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6: Actionable SOC Recommendations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Clear guidance: Quarantine app, revoke user sessions, block C2 IPs, push MDM blacklist.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5513831"/>
            <a:ext cx="4846320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550407"/>
            <a:ext cx="457200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Section 7: Verifiable Evidence Citations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Every single statement links directly to an immutable forensic EvidenceRecord hash.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ANALYST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Real Frontend &amp; Analyst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Live production UI from the SUDARSHAN console: high-speed triage, auditable evidence, and grounded AI chat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12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cas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4145442" cy="2057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400" y="1874519"/>
            <a:ext cx="2286000" cy="21945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CASE REGISTRY &amp; RISK BANDS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73736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5_technical_evidence_hyd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255" y="1828800"/>
            <a:ext cx="4145442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30975" y="1874519"/>
            <a:ext cx="2377440" cy="21945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TRACEABLE EVIDENCE REGISTRY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7286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7_investigati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06240"/>
            <a:ext cx="3961200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0" y="42519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GROUNDED ANALYST INVESTIGATION ASSISTANT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</a:defRPr>
            </a:pPr>
            <a:r>
              <a:t>SUDARSHAN's interactive chat allows tier-1 analysts to query complex technical findings in plain English.</a:t>
            </a:r>
            <a:br/>
            <a:br/>
            <a:r>
              <a:t>- Grounded strictly in the 17 verified evidence records for this case.</a:t>
            </a:r>
            <a:br/>
            <a:r>
              <a:t>- Quick prompt chips: Explain score calculation, identify banking targets, reveal concealed payloads, and recommend SOC actions.</a:t>
            </a:r>
            <a:br/>
            <a:r>
              <a:t>- Transparent verification: Every answer cites the underlying evidence 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ENTERPRISE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Enterprise SOC, Security and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Built for high-volume banking operations: hardened container isolation, granular RBAC, and high throughput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13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2542032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828800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1. Sandbox &amp; Container Containment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22677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Isolated Docker network boundaries preventing external network contamination.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Read-only root filesystem with ephemeral tmpfs storage for malware detonation.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Dedicated ADB bridge daemon ensuring zero cross-container process leakage.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Automated environment teardown restoring clean baseline AVD images after each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56432" y="1737360"/>
            <a:ext cx="254203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828800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2. Granular 3-Tier RBAC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331720"/>
            <a:ext cx="22677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Administrator: System configuration, worker queue monitoring, user provisioning.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SOC Lead: Verdict override authority, analyst case assignment, threat export.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Security Analyst: Case investigation, artifact inspection, grounded AI chat.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Stateless JWT tokens with strict revocation lists and audit trail logging.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737360"/>
            <a:ext cx="2542032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828800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3. Durable Queue &amp; Batch Intake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331720"/>
            <a:ext cx="22677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Enterprise batch scan worker capable of processing 500+ APK portfolios.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Persistent SQLite WAL database surviving unexpected worker restarts.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Automatic job deduplication preventing redundant analysis of duplicate hashes.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Configurable analysis worker pools (5 parallel durable workers standard).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173736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6256" y="1737360"/>
            <a:ext cx="254203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1828800"/>
            <a:ext cx="2322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4. SOC Interoperability &amp; Export Standards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331720"/>
            <a:ext cx="226771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STIX 2.1 Threat Intelligence Bundles for SIEM/SOAR automated ingestion.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MISP Event Sharing JSON formats for cross-institutional fraud intelligence.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Court-Admissible Threat Dossiers in standalone signed HTML / PDF formats.</a:t>
            </a:r>
          </a:p>
          <a:p>
            <a:pPr>
              <a:spcBef>
                <a:spcPts val="800"/>
              </a:spcBef>
              <a:defRPr sz="850">
                <a:solidFill>
                  <a:srgbClr val="334155"/>
                </a:solidFill>
              </a:defRPr>
            </a:pPr>
            <a:r>
              <a:t>- Persistent IOC cache with 24h TTL reducing external API consumption by 85%.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Current Implementation Status vs.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Disciplined engineering: verified working capabilities today versus strategic expansion milestones</a:t>
            </a:r>
          </a:p>
        </p:txBody>
      </p:sp>
      <p:pic>
        <p:nvPicPr>
          <p:cNvPr id="6" name="Picture 5" descr="sudarshan-mark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94360" cy="594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53619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315200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SUDARSHAN : Enterprise Android Banking Malware Analysis and Fraud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10528"/>
            <a:ext cx="1858975" cy="256032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850" b="1">
                <a:solidFill>
                  <a:srgbClr val="1E3A8A"/>
                </a:solidFill>
                <a:latin typeface="Calibri"/>
              </a:defRPr>
            </a:pPr>
            <a:r>
              <a:t>Slide 14 of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VERIFIED IMPLEMENTED CAPABILITIES (TODAY)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- 2,841 Automated Tests Passing (100%)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Verified across 165 test suites covering static, dynamic, risk, and API modules.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62072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Dual-Engine Static Analysis &amp; Header Repair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Auto-repairs corrupted APKs; decomposes DEX smali and parses 127 Android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VIDE Visual Impersonation Engine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Tested and active across 10 protected Indian institutions (BOI, SBI, ICICI, HDFC, etc.).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22775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Dynamic Sandbox with Frida Early Hooking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PID-accurate injection, SSL pinning bypass, and transparent anti-analysis evasion.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53127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- 5-Level Perception Loop &amp; Obstacle Dispatcher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Automated bypass of OTP prompts, permission dialogs, and simulated login forms.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83479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Deterministic Risk Authority (FRS &amp; 4 Floors)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Pure code-level scoring authority; AI strictly prohibited from computing verdicts.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13831"/>
            <a:ext cx="466344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 b="1">
                <a:solidFill>
                  <a:srgbClr val="059669"/>
                </a:solidFill>
              </a:defRPr>
            </a:pPr>
            <a:r>
              <a:t>- Full React 18 / Vite Analyst Dashboard</a:t>
            </a:r>
          </a:p>
          <a:p>
            <a:pPr>
              <a:defRPr sz="750">
                <a:solidFill>
                  <a:srgbClr val="334155"/>
                </a:solidFill>
              </a:defRPr>
            </a:pPr>
            <a:r>
              <a:t>Interactive Case Registry, Evidence Tables, Threat Intel, and Grounded Gemini RAG.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737360"/>
            <a:ext cx="533369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STRATEGIC FUTURE EXPANSION (ROADMAP)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23160"/>
            <a:ext cx="4846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- Distributed Kubernetes Cluster Orchestration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Dynamic on-demand pod scaling across enterprise cloud infrastructures for 10,000+ daily APK scans.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54680"/>
            <a:ext cx="4846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- Bare-Metal Physical Device Farm Integration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Hardware-in-the-loop testing on real Android phones to counter advanced ARM-specific hardware rootkits.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86200"/>
            <a:ext cx="4846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- Multi-Bank Inter-Institutional Threat Mesh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Decentralized zero-day threat sharing network linking public and private Indian financial institutions.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17720"/>
            <a:ext cx="4846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- Automated SIEM &amp; MDM Policy Generation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Auto-compilation of YARA rules, SIEM Sigma detection signatures, and real-time MDM push policies.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49240"/>
            <a:ext cx="484632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- Advanced OCR Vision Transformer Upgrades</a:t>
            </a:r>
          </a:p>
          <a:p>
            <a:pPr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Integration of lightweight on-device vision models for sub-second recognition of scrambled numeric keypads.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darshan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31520" cy="6722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11680" y="1051560"/>
            <a:ext cx="256032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93C5FD"/>
                </a:solidFill>
                <a:latin typeface="Calibri"/>
              </a:defRPr>
            </a:pPr>
            <a:r>
              <a:t>CONCLUSION &amp; STRATEGIC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SUDARSHAN : The Definitive Banking Threat Shield</a:t>
            </a:r>
          </a:p>
          <a:p>
            <a:pPr>
              <a:defRPr sz="1200">
                <a:solidFill>
                  <a:srgbClr val="93C5FD"/>
                </a:solidFill>
              </a:defRPr>
            </a:pPr>
            <a:r>
              <a:t>Transforming mobile banking defense from disjointed bytecode alerts into court-admissible, deterministic fraud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48006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560320"/>
            <a:ext cx="7315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97480"/>
            <a:ext cx="44348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Zero AI Hallucination in Scoring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Deterministic mathematical scoring (FRS 0-100) and 4 non-bypassable safety floors guarantee 100% predictable, auditable, and court-admissible verdicts.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48006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560320"/>
            <a:ext cx="7315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97480"/>
            <a:ext cx="44348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Deep Autonomous Exploration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5-level perception hierarchy and synthetic dispatchers break through complex OTP, login, and anti-analysis barriers without human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23360"/>
            <a:ext cx="48006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4023360"/>
            <a:ext cx="73152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60520"/>
            <a:ext cx="44348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Proactive VIDE Brand Defense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Unmasks fake Indian banking app lookalikes before user credentials ever leave the device by analyzing layout AST, color vectors, and certificate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480060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73152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60520"/>
            <a:ext cx="44348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E0F2FE"/>
                </a:solidFill>
              </a:defRPr>
            </a:pPr>
            <a:r>
              <a:t>Production Tested &amp; SOC Ready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2,841 passing automated tests, hardened container containment, granular RBAC, and standard STIX 2.1 feeds ready for enterprise deployment.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SUDARSHAN : Defending India's Digital Financial Ecosystem |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